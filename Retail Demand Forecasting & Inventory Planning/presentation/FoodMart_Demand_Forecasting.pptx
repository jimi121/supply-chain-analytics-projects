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2" d="100"/>
          <a:sy n="92" d="100"/>
        </p:scale>
        <p:origin x="75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4622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3291840" cy="5143500"/>
          </a:xfrm>
          <a:prstGeom prst="rect">
            <a:avLst/>
          </a:prstGeom>
          <a:solidFill>
            <a:srgbClr val="0B6E4F">
              <a:alpha val="80000"/>
            </a:srgbClr>
          </a:solidFill>
          <a:ln w="12700">
            <a:solidFill>
              <a:srgbClr val="0B6E4F"/>
            </a:solidFill>
            <a:prstDash val="solid"/>
          </a:ln>
        </p:spPr>
      </p:sp>
      <p:sp>
        <p:nvSpPr>
          <p:cNvPr id="3" name="Shape 1"/>
          <p:cNvSpPr/>
          <p:nvPr/>
        </p:nvSpPr>
        <p:spPr>
          <a:xfrm>
            <a:off x="502920" y="2240280"/>
            <a:ext cx="2286000" cy="54864"/>
          </a:xfrm>
          <a:prstGeom prst="rect">
            <a:avLst/>
          </a:prstGeom>
          <a:solidFill>
            <a:srgbClr val="E2A829"/>
          </a:solidFill>
          <a:ln w="12700">
            <a:solidFill>
              <a:srgbClr val="E2A829"/>
            </a:solidFill>
            <a:prstDash val="solid"/>
          </a:ln>
        </p:spPr>
      </p:sp>
      <p:sp>
        <p:nvSpPr>
          <p:cNvPr id="4" name="Text 2"/>
          <p:cNvSpPr/>
          <p:nvPr/>
        </p:nvSpPr>
        <p:spPr>
          <a:xfrm>
            <a:off x="274320" y="411480"/>
            <a:ext cx="2743200" cy="320040"/>
          </a:xfrm>
          <a:prstGeom prst="rect">
            <a:avLst/>
          </a:prstGeom>
          <a:noFill/>
          <a:ln/>
        </p:spPr>
        <p:txBody>
          <a:bodyPr wrap="square" rtlCol="0" anchor="ctr"/>
          <a:lstStyle/>
          <a:p>
            <a:pPr marL="0" indent="0" algn="l">
              <a:buNone/>
            </a:pPr>
            <a:r>
              <a:rPr lang="en-US" sz="900" b="1" kern="0" spc="400" dirty="0">
                <a:solidFill>
                  <a:srgbClr val="E2A829"/>
                </a:solidFill>
                <a:latin typeface="Calibri" pitchFamily="34" charset="0"/>
                <a:ea typeface="Calibri" pitchFamily="34" charset="-122"/>
                <a:cs typeface="Calibri" pitchFamily="34" charset="-120"/>
              </a:rPr>
              <a:t>PORTFOLIO PROJECT</a:t>
            </a:r>
            <a:endParaRPr lang="en-US" sz="900" dirty="0"/>
          </a:p>
        </p:txBody>
      </p:sp>
      <p:sp>
        <p:nvSpPr>
          <p:cNvPr id="5" name="Text 3"/>
          <p:cNvSpPr/>
          <p:nvPr/>
        </p:nvSpPr>
        <p:spPr>
          <a:xfrm>
            <a:off x="274320" y="777240"/>
            <a:ext cx="2743200" cy="274320"/>
          </a:xfrm>
          <a:prstGeom prst="rect">
            <a:avLst/>
          </a:prstGeom>
          <a:noFill/>
          <a:ln/>
        </p:spPr>
        <p:txBody>
          <a:bodyPr wrap="square" rtlCol="0" anchor="ctr"/>
          <a:lstStyle/>
          <a:p>
            <a:pPr marL="0" indent="0" algn="l">
              <a:buNone/>
            </a:pPr>
            <a:r>
              <a:rPr lang="en-US" sz="1000" dirty="0">
                <a:solidFill>
                  <a:srgbClr val="A8C5B5"/>
                </a:solidFill>
                <a:latin typeface="Calibri" pitchFamily="34" charset="0"/>
                <a:ea typeface="Calibri" pitchFamily="34" charset="-122"/>
                <a:cs typeface="Calibri" pitchFamily="34" charset="-120"/>
              </a:rPr>
              <a:t>2024 — 2025</a:t>
            </a:r>
            <a:endParaRPr lang="en-US" sz="1000" dirty="0"/>
          </a:p>
        </p:txBody>
      </p:sp>
      <p:sp>
        <p:nvSpPr>
          <p:cNvPr id="6" name="Text 4"/>
          <p:cNvSpPr/>
          <p:nvPr/>
        </p:nvSpPr>
        <p:spPr>
          <a:xfrm>
            <a:off x="384048" y="1005840"/>
            <a:ext cx="2926080" cy="1325880"/>
          </a:xfrm>
          <a:prstGeom prst="rect">
            <a:avLst/>
          </a:prstGeom>
          <a:noFill/>
          <a:ln/>
        </p:spPr>
        <p:txBody>
          <a:bodyPr wrap="square"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FoodMart</a:t>
            </a:r>
            <a:endParaRPr lang="en-US" sz="3400" dirty="0"/>
          </a:p>
          <a:p>
            <a:pPr marL="0" indent="0" algn="l">
              <a:buNone/>
            </a:pPr>
            <a:r>
              <a:rPr lang="en-US" sz="3400" b="1" dirty="0">
                <a:solidFill>
                  <a:srgbClr val="FFFFFF"/>
                </a:solidFill>
                <a:latin typeface="Cambria" pitchFamily="34" charset="0"/>
                <a:ea typeface="Cambria" pitchFamily="34" charset="-122"/>
                <a:cs typeface="Cambria" pitchFamily="34" charset="-120"/>
              </a:rPr>
              <a:t>Retail Chain</a:t>
            </a:r>
            <a:endParaRPr lang="en-US" sz="3400" dirty="0"/>
          </a:p>
        </p:txBody>
      </p:sp>
      <p:sp>
        <p:nvSpPr>
          <p:cNvPr id="7" name="Text 5"/>
          <p:cNvSpPr/>
          <p:nvPr/>
        </p:nvSpPr>
        <p:spPr>
          <a:xfrm>
            <a:off x="384048" y="2377440"/>
            <a:ext cx="2834640" cy="868680"/>
          </a:xfrm>
          <a:prstGeom prst="rect">
            <a:avLst/>
          </a:prstGeom>
          <a:noFill/>
          <a:ln/>
        </p:spPr>
        <p:txBody>
          <a:bodyPr wrap="square" rtlCol="0" anchor="ctr"/>
          <a:lstStyle/>
          <a:p>
            <a:pPr marL="0" indent="0" algn="l">
              <a:buNone/>
            </a:pPr>
            <a:r>
              <a:rPr lang="en-US" sz="1500" dirty="0">
                <a:solidFill>
                  <a:srgbClr val="B8D4C8"/>
                </a:solidFill>
                <a:latin typeface="Calibri" pitchFamily="34" charset="0"/>
                <a:ea typeface="Calibri" pitchFamily="34" charset="-122"/>
                <a:cs typeface="Calibri" pitchFamily="34" charset="-120"/>
              </a:rPr>
              <a:t>Demand Forecasting</a:t>
            </a:r>
            <a:endParaRPr lang="en-US" sz="1500" dirty="0"/>
          </a:p>
          <a:p>
            <a:pPr marL="0" indent="0" algn="l">
              <a:buNone/>
            </a:pPr>
            <a:r>
              <a:rPr lang="en-US" sz="1500" dirty="0">
                <a:solidFill>
                  <a:srgbClr val="B8D4C8"/>
                </a:solidFill>
                <a:latin typeface="Calibri" pitchFamily="34" charset="0"/>
                <a:ea typeface="Calibri" pitchFamily="34" charset="-122"/>
                <a:cs typeface="Calibri" pitchFamily="34" charset="-120"/>
              </a:rPr>
              <a:t>&amp; Inventory Planning</a:t>
            </a:r>
            <a:endParaRPr lang="en-US" sz="1500" dirty="0"/>
          </a:p>
        </p:txBody>
      </p:sp>
      <p:sp>
        <p:nvSpPr>
          <p:cNvPr id="8" name="Text 6"/>
          <p:cNvSpPr/>
          <p:nvPr/>
        </p:nvSpPr>
        <p:spPr>
          <a:xfrm>
            <a:off x="384048" y="4480560"/>
            <a:ext cx="2834640" cy="320040"/>
          </a:xfrm>
          <a:prstGeom prst="rect">
            <a:avLst/>
          </a:prstGeom>
          <a:noFill/>
          <a:ln/>
        </p:spPr>
        <p:txBody>
          <a:bodyPr wrap="square" rtlCol="0" anchor="ctr"/>
          <a:lstStyle/>
          <a:p>
            <a:pPr marL="0" indent="0" algn="l">
              <a:buNone/>
            </a:pPr>
            <a:r>
              <a:rPr lang="en-US" sz="900" dirty="0">
                <a:solidFill>
                  <a:srgbClr val="8FAEB8"/>
                </a:solidFill>
                <a:latin typeface="Calibri" pitchFamily="34" charset="0"/>
                <a:ea typeface="Calibri" pitchFamily="34" charset="-122"/>
                <a:cs typeface="Calibri" pitchFamily="34" charset="-120"/>
              </a:rPr>
              <a:t>Ibadan, Nigeria  |  7 Stores  |  20 Products  |  18 Months</a:t>
            </a:r>
            <a:endParaRPr lang="en-US" sz="900" dirty="0"/>
          </a:p>
        </p:txBody>
      </p:sp>
      <p:sp>
        <p:nvSpPr>
          <p:cNvPr id="9" name="Shape 7"/>
          <p:cNvSpPr/>
          <p:nvPr/>
        </p:nvSpPr>
        <p:spPr>
          <a:xfrm>
            <a:off x="3657600" y="502920"/>
            <a:ext cx="5120640" cy="868680"/>
          </a:xfrm>
          <a:prstGeom prst="roundRect">
            <a:avLst>
              <a:gd name="adj" fmla="val 8421"/>
            </a:avLst>
          </a:prstGeom>
          <a:solidFill>
            <a:srgbClr val="FFFFFF">
              <a:alpha val="8000"/>
            </a:srgbClr>
          </a:solidFill>
          <a:ln w="12700">
            <a:solidFill>
              <a:srgbClr val="E2A829"/>
            </a:solidFill>
            <a:prstDash val="solid"/>
          </a:ln>
        </p:spPr>
      </p:sp>
      <p:sp>
        <p:nvSpPr>
          <p:cNvPr id="10" name="Text 8"/>
          <p:cNvSpPr/>
          <p:nvPr/>
        </p:nvSpPr>
        <p:spPr>
          <a:xfrm>
            <a:off x="3840480" y="557784"/>
            <a:ext cx="2011680" cy="411480"/>
          </a:xfrm>
          <a:prstGeom prst="rect">
            <a:avLst/>
          </a:prstGeom>
          <a:noFill/>
          <a:ln/>
        </p:spPr>
        <p:txBody>
          <a:bodyPr wrap="square" lIns="0" tIns="0" rIns="0" bIns="0" rtlCol="0" anchor="ctr"/>
          <a:lstStyle/>
          <a:p>
            <a:pPr marL="0" indent="0" algn="l">
              <a:buNone/>
            </a:pPr>
            <a:r>
              <a:rPr lang="en-US" sz="2600" b="1" dirty="0">
                <a:solidFill>
                  <a:srgbClr val="E2A829"/>
                </a:solidFill>
                <a:latin typeface="Cambria" pitchFamily="34" charset="0"/>
                <a:ea typeface="Cambria" pitchFamily="34" charset="-122"/>
                <a:cs typeface="Cambria" pitchFamily="34" charset="-120"/>
              </a:rPr>
              <a:t>76,580</a:t>
            </a:r>
            <a:endParaRPr lang="en-US" sz="2600" dirty="0"/>
          </a:p>
        </p:txBody>
      </p:sp>
      <p:sp>
        <p:nvSpPr>
          <p:cNvPr id="11" name="Text 9"/>
          <p:cNvSpPr/>
          <p:nvPr/>
        </p:nvSpPr>
        <p:spPr>
          <a:xfrm>
            <a:off x="3840480" y="960120"/>
            <a:ext cx="4754880" cy="320040"/>
          </a:xfrm>
          <a:prstGeom prst="rect">
            <a:avLst/>
          </a:prstGeom>
          <a:noFill/>
          <a:ln/>
        </p:spPr>
        <p:txBody>
          <a:bodyPr wrap="square" lIns="0" tIns="0" rIns="0" bIns="0" rtlCol="0" anchor="ctr"/>
          <a:lstStyle/>
          <a:p>
            <a:pPr marL="0" indent="0" algn="l">
              <a:buNone/>
            </a:pPr>
            <a:r>
              <a:rPr lang="en-US" sz="1100" dirty="0">
                <a:solidFill>
                  <a:srgbClr val="B8D4C8"/>
                </a:solidFill>
                <a:latin typeface="Calibri" pitchFamily="34" charset="0"/>
                <a:ea typeface="Calibri" pitchFamily="34" charset="-122"/>
                <a:cs typeface="Calibri" pitchFamily="34" charset="-120"/>
              </a:rPr>
              <a:t>Daily Transaction Records</a:t>
            </a:r>
            <a:endParaRPr lang="en-US" sz="1100" dirty="0"/>
          </a:p>
        </p:txBody>
      </p:sp>
      <p:sp>
        <p:nvSpPr>
          <p:cNvPr id="12" name="Shape 10"/>
          <p:cNvSpPr/>
          <p:nvPr/>
        </p:nvSpPr>
        <p:spPr>
          <a:xfrm>
            <a:off x="3657600" y="1645920"/>
            <a:ext cx="5120640" cy="868680"/>
          </a:xfrm>
          <a:prstGeom prst="roundRect">
            <a:avLst>
              <a:gd name="adj" fmla="val 8421"/>
            </a:avLst>
          </a:prstGeom>
          <a:solidFill>
            <a:srgbClr val="FFFFFF">
              <a:alpha val="8000"/>
            </a:srgbClr>
          </a:solidFill>
          <a:ln w="12700">
            <a:solidFill>
              <a:srgbClr val="E2A829"/>
            </a:solidFill>
            <a:prstDash val="solid"/>
          </a:ln>
        </p:spPr>
      </p:sp>
      <p:sp>
        <p:nvSpPr>
          <p:cNvPr id="13" name="Text 11"/>
          <p:cNvSpPr/>
          <p:nvPr/>
        </p:nvSpPr>
        <p:spPr>
          <a:xfrm>
            <a:off x="3840480" y="1700784"/>
            <a:ext cx="2011680" cy="411480"/>
          </a:xfrm>
          <a:prstGeom prst="rect">
            <a:avLst/>
          </a:prstGeom>
          <a:noFill/>
          <a:ln/>
        </p:spPr>
        <p:txBody>
          <a:bodyPr wrap="square" lIns="0" tIns="0" rIns="0" bIns="0" rtlCol="0" anchor="ctr"/>
          <a:lstStyle/>
          <a:p>
            <a:pPr marL="0" indent="0" algn="l">
              <a:buNone/>
            </a:pPr>
            <a:r>
              <a:rPr lang="en-US" sz="2600" b="1" dirty="0">
                <a:solidFill>
                  <a:srgbClr val="E2A829"/>
                </a:solidFill>
                <a:latin typeface="Cambria" pitchFamily="34" charset="0"/>
                <a:ea typeface="Cambria" pitchFamily="34" charset="-122"/>
                <a:cs typeface="Cambria" pitchFamily="34" charset="-120"/>
              </a:rPr>
              <a:t>19,262</a:t>
            </a:r>
            <a:endParaRPr lang="en-US" sz="2600" dirty="0"/>
          </a:p>
        </p:txBody>
      </p:sp>
      <p:sp>
        <p:nvSpPr>
          <p:cNvPr id="14" name="Text 12"/>
          <p:cNvSpPr/>
          <p:nvPr/>
        </p:nvSpPr>
        <p:spPr>
          <a:xfrm>
            <a:off x="3840480" y="2103120"/>
            <a:ext cx="4754880" cy="320040"/>
          </a:xfrm>
          <a:prstGeom prst="rect">
            <a:avLst/>
          </a:prstGeom>
          <a:noFill/>
          <a:ln/>
        </p:spPr>
        <p:txBody>
          <a:bodyPr wrap="square" lIns="0" tIns="0" rIns="0" bIns="0" rtlCol="0" anchor="ctr"/>
          <a:lstStyle/>
          <a:p>
            <a:pPr marL="0" indent="0" algn="l">
              <a:buNone/>
            </a:pPr>
            <a:r>
              <a:rPr lang="en-US" sz="1100" dirty="0">
                <a:solidFill>
                  <a:srgbClr val="B8D4C8"/>
                </a:solidFill>
                <a:latin typeface="Calibri" pitchFamily="34" charset="0"/>
                <a:ea typeface="Calibri" pitchFamily="34" charset="-122"/>
                <a:cs typeface="Calibri" pitchFamily="34" charset="-120"/>
              </a:rPr>
              <a:t>Total Stockout Events</a:t>
            </a:r>
            <a:endParaRPr lang="en-US" sz="1100" dirty="0"/>
          </a:p>
        </p:txBody>
      </p:sp>
      <p:sp>
        <p:nvSpPr>
          <p:cNvPr id="15" name="Shape 13"/>
          <p:cNvSpPr/>
          <p:nvPr/>
        </p:nvSpPr>
        <p:spPr>
          <a:xfrm>
            <a:off x="3657600" y="2788920"/>
            <a:ext cx="5120640" cy="868680"/>
          </a:xfrm>
          <a:prstGeom prst="roundRect">
            <a:avLst>
              <a:gd name="adj" fmla="val 8421"/>
            </a:avLst>
          </a:prstGeom>
          <a:solidFill>
            <a:srgbClr val="FFFFFF">
              <a:alpha val="8000"/>
            </a:srgbClr>
          </a:solidFill>
          <a:ln w="12700">
            <a:solidFill>
              <a:srgbClr val="E2A829"/>
            </a:solidFill>
            <a:prstDash val="solid"/>
          </a:ln>
        </p:spPr>
      </p:sp>
      <p:sp>
        <p:nvSpPr>
          <p:cNvPr id="16" name="Text 14"/>
          <p:cNvSpPr/>
          <p:nvPr/>
        </p:nvSpPr>
        <p:spPr>
          <a:xfrm>
            <a:off x="3840480" y="2843784"/>
            <a:ext cx="2011680" cy="411480"/>
          </a:xfrm>
          <a:prstGeom prst="rect">
            <a:avLst/>
          </a:prstGeom>
          <a:noFill/>
          <a:ln/>
        </p:spPr>
        <p:txBody>
          <a:bodyPr wrap="square" lIns="0" tIns="0" rIns="0" bIns="0" rtlCol="0" anchor="ctr"/>
          <a:lstStyle/>
          <a:p>
            <a:pPr marL="0" indent="0" algn="l">
              <a:buNone/>
            </a:pPr>
            <a:r>
              <a:rPr lang="en-US" sz="2600" b="1" dirty="0">
                <a:solidFill>
                  <a:srgbClr val="E2A829"/>
                </a:solidFill>
                <a:latin typeface="Cambria" pitchFamily="34" charset="0"/>
                <a:ea typeface="Cambria" pitchFamily="34" charset="-122"/>
                <a:cs typeface="Cambria" pitchFamily="34" charset="-120"/>
              </a:rPr>
              <a:t>86%</a:t>
            </a:r>
            <a:endParaRPr lang="en-US" sz="2600" dirty="0"/>
          </a:p>
        </p:txBody>
      </p:sp>
      <p:sp>
        <p:nvSpPr>
          <p:cNvPr id="17" name="Text 15"/>
          <p:cNvSpPr/>
          <p:nvPr/>
        </p:nvSpPr>
        <p:spPr>
          <a:xfrm>
            <a:off x="3840480" y="3246120"/>
            <a:ext cx="4754880" cy="320040"/>
          </a:xfrm>
          <a:prstGeom prst="rect">
            <a:avLst/>
          </a:prstGeom>
          <a:noFill/>
          <a:ln/>
        </p:spPr>
        <p:txBody>
          <a:bodyPr wrap="square" lIns="0" tIns="0" rIns="0" bIns="0" rtlCol="0" anchor="ctr"/>
          <a:lstStyle/>
          <a:p>
            <a:pPr marL="0" indent="0" algn="l">
              <a:buNone/>
            </a:pPr>
            <a:r>
              <a:rPr lang="en-US" sz="1100" dirty="0">
                <a:solidFill>
                  <a:srgbClr val="B8D4C8"/>
                </a:solidFill>
                <a:latin typeface="Calibri" pitchFamily="34" charset="0"/>
                <a:ea typeface="Calibri" pitchFamily="34" charset="-122"/>
                <a:cs typeface="Calibri" pitchFamily="34" charset="-120"/>
              </a:rPr>
              <a:t>Supplier Delay Rate</a:t>
            </a:r>
            <a:endParaRPr lang="en-US" sz="1100" dirty="0"/>
          </a:p>
        </p:txBody>
      </p:sp>
      <p:sp>
        <p:nvSpPr>
          <p:cNvPr id="18" name="Shape 16"/>
          <p:cNvSpPr/>
          <p:nvPr/>
        </p:nvSpPr>
        <p:spPr>
          <a:xfrm>
            <a:off x="3657600" y="3749040"/>
            <a:ext cx="5120640" cy="868680"/>
          </a:xfrm>
          <a:prstGeom prst="roundRect">
            <a:avLst>
              <a:gd name="adj" fmla="val 8421"/>
            </a:avLst>
          </a:prstGeom>
          <a:solidFill>
            <a:srgbClr val="FFFFFF">
              <a:alpha val="8000"/>
            </a:srgbClr>
          </a:solidFill>
          <a:ln w="12700">
            <a:solidFill>
              <a:srgbClr val="E2A829"/>
            </a:solidFill>
            <a:prstDash val="solid"/>
          </a:ln>
        </p:spPr>
      </p:sp>
      <p:sp>
        <p:nvSpPr>
          <p:cNvPr id="19" name="Text 17"/>
          <p:cNvSpPr/>
          <p:nvPr/>
        </p:nvSpPr>
        <p:spPr>
          <a:xfrm>
            <a:off x="3840480" y="3803904"/>
            <a:ext cx="2011680" cy="411480"/>
          </a:xfrm>
          <a:prstGeom prst="rect">
            <a:avLst/>
          </a:prstGeom>
          <a:noFill/>
          <a:ln/>
        </p:spPr>
        <p:txBody>
          <a:bodyPr wrap="square" lIns="0" tIns="0" rIns="0" bIns="0" rtlCol="0" anchor="ctr"/>
          <a:lstStyle/>
          <a:p>
            <a:pPr marL="0" indent="0" algn="l">
              <a:buNone/>
            </a:pPr>
            <a:r>
              <a:rPr lang="en-US" sz="2600" b="1" dirty="0">
                <a:solidFill>
                  <a:srgbClr val="E2A829"/>
                </a:solidFill>
                <a:latin typeface="Cambria" pitchFamily="34" charset="0"/>
                <a:ea typeface="Cambria" pitchFamily="34" charset="-122"/>
                <a:cs typeface="Cambria" pitchFamily="34" charset="-120"/>
              </a:rPr>
              <a:t>₦13.3B+</a:t>
            </a:r>
            <a:endParaRPr lang="en-US" sz="2600" dirty="0"/>
          </a:p>
        </p:txBody>
      </p:sp>
      <p:sp>
        <p:nvSpPr>
          <p:cNvPr id="20" name="Text 18"/>
          <p:cNvSpPr/>
          <p:nvPr/>
        </p:nvSpPr>
        <p:spPr>
          <a:xfrm>
            <a:off x="3840480" y="4206240"/>
            <a:ext cx="4754880" cy="320040"/>
          </a:xfrm>
          <a:prstGeom prst="rect">
            <a:avLst/>
          </a:prstGeom>
          <a:noFill/>
          <a:ln/>
        </p:spPr>
        <p:txBody>
          <a:bodyPr wrap="square" lIns="0" tIns="0" rIns="0" bIns="0" rtlCol="0" anchor="ctr"/>
          <a:lstStyle/>
          <a:p>
            <a:pPr marL="0" indent="0" algn="l">
              <a:buNone/>
            </a:pPr>
            <a:r>
              <a:rPr lang="en-US" sz="1100" dirty="0">
                <a:solidFill>
                  <a:srgbClr val="B8D4C8"/>
                </a:solidFill>
                <a:latin typeface="Calibri" pitchFamily="34" charset="0"/>
                <a:ea typeface="Calibri" pitchFamily="34" charset="-122"/>
                <a:cs typeface="Calibri" pitchFamily="34" charset="-120"/>
              </a:rPr>
              <a:t>Total Revenue Analysed</a:t>
            </a:r>
            <a:endParaRPr lang="en-US" sz="1100" dirty="0"/>
          </a:p>
        </p:txBody>
      </p:sp>
      <p:sp>
        <p:nvSpPr>
          <p:cNvPr id="21" name="Text 19"/>
          <p:cNvSpPr/>
          <p:nvPr/>
        </p:nvSpPr>
        <p:spPr>
          <a:xfrm>
            <a:off x="3566160" y="4754880"/>
            <a:ext cx="5303520" cy="256032"/>
          </a:xfrm>
          <a:prstGeom prst="rect">
            <a:avLst/>
          </a:prstGeom>
          <a:noFill/>
          <a:ln/>
        </p:spPr>
        <p:txBody>
          <a:bodyPr wrap="square" rtlCol="0" anchor="ctr"/>
          <a:lstStyle/>
          <a:p>
            <a:pPr marL="0" indent="0" algn="r">
              <a:buNone/>
            </a:pPr>
            <a:r>
              <a:rPr lang="en-US" sz="900" dirty="0">
                <a:solidFill>
                  <a:srgbClr val="6B7B8D"/>
                </a:solidFill>
                <a:latin typeface="Calibri" pitchFamily="34" charset="0"/>
                <a:ea typeface="Calibri" pitchFamily="34" charset="-122"/>
                <a:cs typeface="Calibri" pitchFamily="34" charset="-120"/>
              </a:rPr>
              <a:t>Olajimi Adeleke  |  PostgreSQL &amp; Python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sp>
      <p:sp>
        <p:nvSpPr>
          <p:cNvPr id="3" name="Text 1"/>
          <p:cNvSpPr/>
          <p:nvPr/>
        </p:nvSpPr>
        <p:spPr>
          <a:xfrm>
            <a:off x="457200" y="164592"/>
            <a:ext cx="822960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Project Overview</a:t>
            </a:r>
            <a:endParaRPr lang="en-US" sz="2800" dirty="0"/>
          </a:p>
        </p:txBody>
      </p:sp>
      <p:sp>
        <p:nvSpPr>
          <p:cNvPr id="4" name="Shape 2"/>
          <p:cNvSpPr/>
          <p:nvPr/>
        </p:nvSpPr>
        <p:spPr>
          <a:xfrm>
            <a:off x="365760" y="1143000"/>
            <a:ext cx="4023360" cy="3474720"/>
          </a:xfrm>
          <a:prstGeom prst="roundRect">
            <a:avLst>
              <a:gd name="adj" fmla="val 2632"/>
            </a:avLst>
          </a:prstGeom>
          <a:solidFill>
            <a:srgbClr val="FFFFFF"/>
          </a:solidFill>
          <a:ln w="12700">
            <a:solidFill>
              <a:srgbClr val="FFFFFF"/>
            </a:solidFill>
            <a:prstDash val="solid"/>
          </a:ln>
          <a:effectLst>
            <a:outerShdw blurRad="101600" dist="38100" dir="2700000" algn="bl" rotWithShape="0">
              <a:srgbClr val="000000">
                <a:alpha val="12000"/>
              </a:srgbClr>
            </a:outerShdw>
          </a:effectLst>
        </p:spPr>
      </p:sp>
      <p:sp>
        <p:nvSpPr>
          <p:cNvPr id="5" name="Text 3"/>
          <p:cNvSpPr/>
          <p:nvPr/>
        </p:nvSpPr>
        <p:spPr>
          <a:xfrm>
            <a:off x="594360" y="1325880"/>
            <a:ext cx="3566160" cy="274320"/>
          </a:xfrm>
          <a:prstGeom prst="rect">
            <a:avLst/>
          </a:prstGeom>
          <a:noFill/>
          <a:ln/>
        </p:spPr>
        <p:txBody>
          <a:bodyPr wrap="square" lIns="0" tIns="0" rIns="0" bIns="0" rtlCol="0" anchor="ctr"/>
          <a:lstStyle/>
          <a:p>
            <a:pPr marL="0" indent="0" algn="l">
              <a:buNone/>
            </a:pPr>
            <a:r>
              <a:rPr lang="en-US" sz="900" b="1" kern="0" spc="300" dirty="0">
                <a:solidFill>
                  <a:srgbClr val="0B6E4F"/>
                </a:solidFill>
                <a:latin typeface="Calibri" pitchFamily="34" charset="0"/>
                <a:ea typeface="Calibri" pitchFamily="34" charset="-122"/>
                <a:cs typeface="Calibri" pitchFamily="34" charset="-120"/>
              </a:rPr>
              <a:t>ABOUT THIS PROJECT</a:t>
            </a:r>
            <a:endParaRPr lang="en-US" sz="900" dirty="0"/>
          </a:p>
        </p:txBody>
      </p:sp>
      <p:sp>
        <p:nvSpPr>
          <p:cNvPr id="6" name="Text 4"/>
          <p:cNvSpPr/>
          <p:nvPr/>
        </p:nvSpPr>
        <p:spPr>
          <a:xfrm>
            <a:off x="594360" y="1691640"/>
            <a:ext cx="3566160" cy="2697480"/>
          </a:xfrm>
          <a:prstGeom prst="rect">
            <a:avLst/>
          </a:prstGeom>
          <a:noFill/>
          <a:ln/>
        </p:spPr>
        <p:txBody>
          <a:bodyPr wrap="square" rtlCol="0" anchor="ctr"/>
          <a:lstStyle/>
          <a:p>
            <a:pPr marL="0" indent="0" algn="l">
              <a:buNone/>
            </a:pPr>
            <a:r>
              <a:rPr lang="en-US" sz="1200" dirty="0">
                <a:solidFill>
                  <a:srgbClr val="2D3748"/>
                </a:solidFill>
                <a:latin typeface="Calibri" pitchFamily="34" charset="0"/>
                <a:ea typeface="Calibri" pitchFamily="34" charset="-122"/>
                <a:cs typeface="Calibri" pitchFamily="34" charset="-120"/>
              </a:rPr>
              <a:t>FoodMart operates seven supermarket branches across Ibadan, Nigeria. This project analyses 18 months of transaction data to understand demand behaviour, pinpoint stockout patterns, evaluate supplier reliability, and identify perishable inventory waste risks.</a:t>
            </a:r>
            <a:endParaRPr lang="en-US" sz="1200" dirty="0"/>
          </a:p>
          <a:p>
            <a:pPr marL="0" indent="0" algn="l">
              <a:buNone/>
            </a:pPr>
            <a:endParaRPr lang="en-US" sz="1200" dirty="0"/>
          </a:p>
          <a:p>
            <a:pPr marL="0" indent="0" algn="l">
              <a:buNone/>
            </a:pPr>
            <a:r>
              <a:rPr lang="en-US" sz="1200" dirty="0">
                <a:solidFill>
                  <a:srgbClr val="2D3748"/>
                </a:solidFill>
                <a:latin typeface="Calibri" pitchFamily="34" charset="0"/>
                <a:ea typeface="Calibri" pitchFamily="34" charset="-122"/>
                <a:cs typeface="Calibri" pitchFamily="34" charset="-120"/>
              </a:rPr>
              <a:t>The findings form the foundation for forecasting models and data-driven replenishment decisions.</a:t>
            </a:r>
            <a:endParaRPr lang="en-US" sz="1200" dirty="0"/>
          </a:p>
        </p:txBody>
      </p:sp>
      <p:sp>
        <p:nvSpPr>
          <p:cNvPr id="7" name="Shape 5"/>
          <p:cNvSpPr/>
          <p:nvPr/>
        </p:nvSpPr>
        <p:spPr>
          <a:xfrm>
            <a:off x="4663440" y="1143000"/>
            <a:ext cx="2103120" cy="749808"/>
          </a:xfrm>
          <a:prstGeom prst="roundRect">
            <a:avLst>
              <a:gd name="adj" fmla="val 12195"/>
            </a:avLst>
          </a:prstGeom>
          <a:solidFill>
            <a:srgbClr val="0B6E4F"/>
          </a:solidFill>
          <a:ln w="12700">
            <a:solidFill>
              <a:srgbClr val="0B6E4F"/>
            </a:solidFill>
            <a:prstDash val="solid"/>
          </a:ln>
        </p:spPr>
      </p:sp>
      <p:sp>
        <p:nvSpPr>
          <p:cNvPr id="8" name="Text 6"/>
          <p:cNvSpPr/>
          <p:nvPr/>
        </p:nvSpPr>
        <p:spPr>
          <a:xfrm>
            <a:off x="4773168" y="1252728"/>
            <a:ext cx="1901952"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Demand &amp; Sales Analysis</a:t>
            </a:r>
            <a:endParaRPr lang="en-US" sz="1200" dirty="0"/>
          </a:p>
        </p:txBody>
      </p:sp>
      <p:sp>
        <p:nvSpPr>
          <p:cNvPr id="9" name="Shape 7"/>
          <p:cNvSpPr/>
          <p:nvPr/>
        </p:nvSpPr>
        <p:spPr>
          <a:xfrm>
            <a:off x="6949440" y="1143000"/>
            <a:ext cx="2103120" cy="749808"/>
          </a:xfrm>
          <a:prstGeom prst="roundRect">
            <a:avLst>
              <a:gd name="adj" fmla="val 12195"/>
            </a:avLst>
          </a:prstGeom>
          <a:solidFill>
            <a:srgbClr val="C0392B"/>
          </a:solidFill>
          <a:ln w="12700">
            <a:solidFill>
              <a:srgbClr val="C0392B"/>
            </a:solidFill>
            <a:prstDash val="solid"/>
          </a:ln>
        </p:spPr>
      </p:sp>
      <p:sp>
        <p:nvSpPr>
          <p:cNvPr id="10" name="Text 8"/>
          <p:cNvSpPr/>
          <p:nvPr/>
        </p:nvSpPr>
        <p:spPr>
          <a:xfrm>
            <a:off x="7059168" y="1252728"/>
            <a:ext cx="1901952"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Inventory Risk</a:t>
            </a:r>
            <a:endParaRPr lang="en-US" sz="1200" dirty="0"/>
          </a:p>
        </p:txBody>
      </p:sp>
      <p:sp>
        <p:nvSpPr>
          <p:cNvPr id="11" name="Shape 9"/>
          <p:cNvSpPr/>
          <p:nvPr/>
        </p:nvSpPr>
        <p:spPr>
          <a:xfrm>
            <a:off x="4663440" y="2148840"/>
            <a:ext cx="2103120" cy="749808"/>
          </a:xfrm>
          <a:prstGeom prst="roundRect">
            <a:avLst>
              <a:gd name="adj" fmla="val 12195"/>
            </a:avLst>
          </a:prstGeom>
          <a:solidFill>
            <a:srgbClr val="1565C0"/>
          </a:solidFill>
          <a:ln w="12700">
            <a:solidFill>
              <a:srgbClr val="1565C0"/>
            </a:solidFill>
            <a:prstDash val="solid"/>
          </a:ln>
        </p:spPr>
      </p:sp>
      <p:sp>
        <p:nvSpPr>
          <p:cNvPr id="12" name="Text 10"/>
          <p:cNvSpPr/>
          <p:nvPr/>
        </p:nvSpPr>
        <p:spPr>
          <a:xfrm>
            <a:off x="4773168" y="2258568"/>
            <a:ext cx="1901952"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Replenishment Efficiency</a:t>
            </a:r>
            <a:endParaRPr lang="en-US" sz="1200" dirty="0"/>
          </a:p>
        </p:txBody>
      </p:sp>
      <p:sp>
        <p:nvSpPr>
          <p:cNvPr id="13" name="Shape 11"/>
          <p:cNvSpPr/>
          <p:nvPr/>
        </p:nvSpPr>
        <p:spPr>
          <a:xfrm>
            <a:off x="6949440" y="2148840"/>
            <a:ext cx="2103120" cy="749808"/>
          </a:xfrm>
          <a:prstGeom prst="roundRect">
            <a:avLst>
              <a:gd name="adj" fmla="val 12195"/>
            </a:avLst>
          </a:prstGeom>
          <a:solidFill>
            <a:srgbClr val="6D4C41"/>
          </a:solidFill>
          <a:ln w="12700">
            <a:solidFill>
              <a:srgbClr val="6D4C41"/>
            </a:solidFill>
            <a:prstDash val="solid"/>
          </a:ln>
        </p:spPr>
      </p:sp>
      <p:sp>
        <p:nvSpPr>
          <p:cNvPr id="14" name="Text 12"/>
          <p:cNvSpPr/>
          <p:nvPr/>
        </p:nvSpPr>
        <p:spPr>
          <a:xfrm>
            <a:off x="7059168" y="2258568"/>
            <a:ext cx="1901952"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Supplier Performance</a:t>
            </a:r>
            <a:endParaRPr lang="en-US" sz="1200" dirty="0"/>
          </a:p>
        </p:txBody>
      </p:sp>
      <p:sp>
        <p:nvSpPr>
          <p:cNvPr id="15" name="Shape 13"/>
          <p:cNvSpPr/>
          <p:nvPr/>
        </p:nvSpPr>
        <p:spPr>
          <a:xfrm>
            <a:off x="4663440" y="3154680"/>
            <a:ext cx="2103120" cy="749808"/>
          </a:xfrm>
          <a:prstGeom prst="roundRect">
            <a:avLst>
              <a:gd name="adj" fmla="val 12195"/>
            </a:avLst>
          </a:prstGeom>
          <a:solidFill>
            <a:srgbClr val="E65100"/>
          </a:solidFill>
          <a:ln w="12700">
            <a:solidFill>
              <a:srgbClr val="E65100"/>
            </a:solidFill>
            <a:prstDash val="solid"/>
          </a:ln>
        </p:spPr>
      </p:sp>
      <p:sp>
        <p:nvSpPr>
          <p:cNvPr id="16" name="Text 14"/>
          <p:cNvSpPr/>
          <p:nvPr/>
        </p:nvSpPr>
        <p:spPr>
          <a:xfrm>
            <a:off x="4773168" y="3264408"/>
            <a:ext cx="1901952"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Expiry &amp; Waste</a:t>
            </a:r>
            <a:endParaRPr lang="en-US" sz="1200" dirty="0"/>
          </a:p>
        </p:txBody>
      </p:sp>
      <p:sp>
        <p:nvSpPr>
          <p:cNvPr id="17" name="Shape 15"/>
          <p:cNvSpPr/>
          <p:nvPr/>
        </p:nvSpPr>
        <p:spPr>
          <a:xfrm>
            <a:off x="6949440" y="3154680"/>
            <a:ext cx="2103120" cy="749808"/>
          </a:xfrm>
          <a:prstGeom prst="roundRect">
            <a:avLst>
              <a:gd name="adj" fmla="val 12195"/>
            </a:avLst>
          </a:prstGeom>
          <a:solidFill>
            <a:srgbClr val="4A148C"/>
          </a:solidFill>
          <a:ln w="12700">
            <a:solidFill>
              <a:srgbClr val="4A148C"/>
            </a:solidFill>
            <a:prstDash val="solid"/>
          </a:ln>
        </p:spPr>
      </p:sp>
      <p:sp>
        <p:nvSpPr>
          <p:cNvPr id="18" name="Text 16"/>
          <p:cNvSpPr/>
          <p:nvPr/>
        </p:nvSpPr>
        <p:spPr>
          <a:xfrm>
            <a:off x="7059168" y="3264408"/>
            <a:ext cx="1901952"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Demand Trend Analysis</a:t>
            </a:r>
            <a:endParaRPr lang="en-US" sz="1200" dirty="0"/>
          </a:p>
        </p:txBody>
      </p:sp>
      <p:sp>
        <p:nvSpPr>
          <p:cNvPr id="19" name="Text 17"/>
          <p:cNvSpPr/>
          <p:nvPr/>
        </p:nvSpPr>
        <p:spPr>
          <a:xfrm>
            <a:off x="4663440" y="4160520"/>
            <a:ext cx="4389120" cy="320040"/>
          </a:xfrm>
          <a:prstGeom prst="rect">
            <a:avLst/>
          </a:prstGeom>
          <a:noFill/>
          <a:ln/>
        </p:spPr>
        <p:txBody>
          <a:bodyPr wrap="square" rtlCol="0" anchor="ctr"/>
          <a:lstStyle/>
          <a:p>
            <a:pPr marL="0" indent="0" algn="ctr">
              <a:buNone/>
            </a:pPr>
            <a:r>
              <a:rPr lang="en-US" sz="1000" b="1" dirty="0">
                <a:solidFill>
                  <a:srgbClr val="6B7B8D"/>
                </a:solidFill>
                <a:latin typeface="Calibri" pitchFamily="34" charset="0"/>
                <a:ea typeface="Calibri" pitchFamily="34" charset="-122"/>
                <a:cs typeface="Calibri" pitchFamily="34" charset="-120"/>
              </a:rPr>
              <a:t>6 Analysis Sections</a:t>
            </a:r>
            <a:endParaRPr lang="en-US" sz="1000" dirty="0"/>
          </a:p>
        </p:txBody>
      </p:sp>
      <p:sp>
        <p:nvSpPr>
          <p:cNvPr id="20" name="Text 18"/>
          <p:cNvSpPr/>
          <p:nvPr/>
        </p:nvSpPr>
        <p:spPr>
          <a:xfrm>
            <a:off x="365760" y="4681728"/>
            <a:ext cx="1005840" cy="256032"/>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Tool Stack:</a:t>
            </a:r>
            <a:endParaRPr lang="en-US" sz="1000" dirty="0"/>
          </a:p>
        </p:txBody>
      </p:sp>
      <p:sp>
        <p:nvSpPr>
          <p:cNvPr id="21" name="Text 19"/>
          <p:cNvSpPr/>
          <p:nvPr/>
        </p:nvSpPr>
        <p:spPr>
          <a:xfrm>
            <a:off x="1417320" y="4681728"/>
            <a:ext cx="7498080" cy="256032"/>
          </a:xfrm>
          <a:prstGeom prst="rect">
            <a:avLst/>
          </a:prstGeom>
          <a:noFill/>
          <a:ln/>
        </p:spPr>
        <p:txBody>
          <a:bodyPr wrap="square" lIns="0" tIns="0" rIns="0" bIns="0" rtlCol="0" anchor="ctr"/>
          <a:lstStyle/>
          <a:p>
            <a:pPr marL="0" indent="0">
              <a:buNone/>
            </a:pPr>
            <a:r>
              <a:rPr lang="en-US" sz="1000" dirty="0">
                <a:solidFill>
                  <a:srgbClr val="6B7B8D"/>
                </a:solidFill>
                <a:latin typeface="Calibri" pitchFamily="34" charset="0"/>
                <a:ea typeface="Calibri" pitchFamily="34" charset="-122"/>
                <a:cs typeface="Calibri" pitchFamily="34" charset="-120"/>
              </a:rPr>
              <a:t>PostgreSQL     Python (pandas, matplotlib, statsmodels, Prophet)     18 months of data</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Text 1"/>
          <p:cNvSpPr/>
          <p:nvPr/>
        </p:nvSpPr>
        <p:spPr>
          <a:xfrm>
            <a:off x="457200" y="137160"/>
            <a:ext cx="685800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Demand Trend Analysis</a:t>
            </a:r>
            <a:endParaRPr lang="en-US" sz="2600" dirty="0"/>
          </a:p>
        </p:txBody>
      </p:sp>
      <p:pic>
        <p:nvPicPr>
          <p:cNvPr id="5" name="Image 0" descr="preencoded.png"/>
          <p:cNvPicPr>
            <a:picLocks noChangeAspect="1"/>
          </p:cNvPicPr>
          <p:nvPr/>
        </p:nvPicPr>
        <p:blipFill>
          <a:blip r:embed="rId3"/>
          <a:stretch>
            <a:fillRect/>
          </a:stretch>
        </p:blipFill>
        <p:spPr>
          <a:xfrm>
            <a:off x="274320" y="1005840"/>
            <a:ext cx="8595360" cy="2926080"/>
          </a:xfrm>
          <a:prstGeom prst="rect">
            <a:avLst/>
          </a:prstGeom>
        </p:spPr>
      </p:pic>
      <p:sp>
        <p:nvSpPr>
          <p:cNvPr id="6" name="Shape 3"/>
          <p:cNvSpPr/>
          <p:nvPr/>
        </p:nvSpPr>
        <p:spPr>
          <a:xfrm>
            <a:off x="274320" y="4114800"/>
            <a:ext cx="2834640" cy="822960"/>
          </a:xfrm>
          <a:prstGeom prst="roundRect">
            <a:avLst>
              <a:gd name="adj" fmla="val 8889"/>
            </a:avLst>
          </a:prstGeom>
          <a:solidFill>
            <a:srgbClr val="EEF2F6"/>
          </a:solidFill>
          <a:ln w="12700">
            <a:solidFill>
              <a:srgbClr val="EEF2F6"/>
            </a:solidFill>
            <a:prstDash val="solid"/>
          </a:ln>
          <a:effectLst>
            <a:outerShdw blurRad="101600" dist="38100" dir="2700000" algn="bl" rotWithShape="0">
              <a:srgbClr val="000000">
                <a:alpha val="12000"/>
              </a:srgbClr>
            </a:outerShdw>
          </a:effectLst>
        </p:spPr>
      </p:sp>
      <p:sp>
        <p:nvSpPr>
          <p:cNvPr id="7" name="Text 4"/>
          <p:cNvSpPr/>
          <p:nvPr/>
        </p:nvSpPr>
        <p:spPr>
          <a:xfrm>
            <a:off x="411480" y="4169664"/>
            <a:ext cx="2606040" cy="256032"/>
          </a:xfrm>
          <a:prstGeom prst="rect">
            <a:avLst/>
          </a:prstGeom>
          <a:noFill/>
          <a:ln/>
        </p:spPr>
        <p:txBody>
          <a:bodyPr wrap="square" lIns="0" tIns="0" rIns="0" bIns="0" rtlCol="0" anchor="ctr"/>
          <a:lstStyle/>
          <a:p>
            <a:pPr marL="0" indent="0">
              <a:buNone/>
            </a:pPr>
            <a:r>
              <a:rPr lang="en-US" sz="1000" b="1" dirty="0">
                <a:solidFill>
                  <a:srgbClr val="0B6E4F"/>
                </a:solidFill>
                <a:latin typeface="Calibri" pitchFamily="34" charset="0"/>
                <a:ea typeface="Calibri" pitchFamily="34" charset="-122"/>
                <a:cs typeface="Calibri" pitchFamily="34" charset="-120"/>
              </a:rPr>
              <a:t>Stable Baseline</a:t>
            </a:r>
            <a:endParaRPr lang="en-US" sz="1000" dirty="0"/>
          </a:p>
        </p:txBody>
      </p:sp>
      <p:sp>
        <p:nvSpPr>
          <p:cNvPr id="8" name="Text 5"/>
          <p:cNvSpPr/>
          <p:nvPr/>
        </p:nvSpPr>
        <p:spPr>
          <a:xfrm>
            <a:off x="411480" y="4407408"/>
            <a:ext cx="2606040" cy="457200"/>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3,200 to 3,800 units per day outside seasonal windows</a:t>
            </a:r>
            <a:endParaRPr lang="en-US" sz="950" dirty="0"/>
          </a:p>
        </p:txBody>
      </p:sp>
      <p:sp>
        <p:nvSpPr>
          <p:cNvPr id="9" name="Shape 6"/>
          <p:cNvSpPr/>
          <p:nvPr/>
        </p:nvSpPr>
        <p:spPr>
          <a:xfrm>
            <a:off x="3337560" y="4114800"/>
            <a:ext cx="2834640" cy="822960"/>
          </a:xfrm>
          <a:prstGeom prst="roundRect">
            <a:avLst>
              <a:gd name="adj" fmla="val 8889"/>
            </a:avLst>
          </a:prstGeom>
          <a:solidFill>
            <a:srgbClr val="EEF2F6"/>
          </a:solidFill>
          <a:ln w="12700">
            <a:solidFill>
              <a:srgbClr val="EEF2F6"/>
            </a:solidFill>
            <a:prstDash val="solid"/>
          </a:ln>
          <a:effectLst>
            <a:outerShdw blurRad="101600" dist="38100" dir="2700000" algn="bl" rotWithShape="0">
              <a:srgbClr val="000000">
                <a:alpha val="12000"/>
              </a:srgbClr>
            </a:outerShdw>
          </a:effectLst>
        </p:spPr>
      </p:sp>
      <p:sp>
        <p:nvSpPr>
          <p:cNvPr id="10" name="Text 7"/>
          <p:cNvSpPr/>
          <p:nvPr/>
        </p:nvSpPr>
        <p:spPr>
          <a:xfrm>
            <a:off x="3474720" y="4169664"/>
            <a:ext cx="2606040" cy="256032"/>
          </a:xfrm>
          <a:prstGeom prst="rect">
            <a:avLst/>
          </a:prstGeom>
          <a:noFill/>
          <a:ln/>
        </p:spPr>
        <p:txBody>
          <a:bodyPr wrap="square" lIns="0" tIns="0" rIns="0" bIns="0" rtlCol="0" anchor="ctr"/>
          <a:lstStyle/>
          <a:p>
            <a:pPr marL="0" indent="0">
              <a:buNone/>
            </a:pPr>
            <a:r>
              <a:rPr lang="en-US" sz="1000" b="1" dirty="0">
                <a:solidFill>
                  <a:srgbClr val="0B6E4F"/>
                </a:solidFill>
                <a:latin typeface="Calibri" pitchFamily="34" charset="0"/>
                <a:ea typeface="Calibri" pitchFamily="34" charset="-122"/>
                <a:cs typeface="Calibri" pitchFamily="34" charset="-120"/>
              </a:rPr>
              <a:t>April Surge</a:t>
            </a:r>
            <a:endParaRPr lang="en-US" sz="1000" dirty="0"/>
          </a:p>
        </p:txBody>
      </p:sp>
      <p:sp>
        <p:nvSpPr>
          <p:cNvPr id="11" name="Text 8"/>
          <p:cNvSpPr/>
          <p:nvPr/>
        </p:nvSpPr>
        <p:spPr>
          <a:xfrm>
            <a:off x="3474720" y="4407408"/>
            <a:ext cx="2606040" cy="457200"/>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Sales spike to 5,000+ units driven by Easter and Eid seasons</a:t>
            </a:r>
            <a:endParaRPr lang="en-US" sz="950" dirty="0"/>
          </a:p>
        </p:txBody>
      </p:sp>
      <p:sp>
        <p:nvSpPr>
          <p:cNvPr id="12" name="Shape 9"/>
          <p:cNvSpPr/>
          <p:nvPr/>
        </p:nvSpPr>
        <p:spPr>
          <a:xfrm>
            <a:off x="6400800" y="4114800"/>
            <a:ext cx="2834640" cy="822960"/>
          </a:xfrm>
          <a:prstGeom prst="roundRect">
            <a:avLst>
              <a:gd name="adj" fmla="val 8889"/>
            </a:avLst>
          </a:prstGeom>
          <a:solidFill>
            <a:srgbClr val="EEF2F6"/>
          </a:solidFill>
          <a:ln w="12700">
            <a:solidFill>
              <a:srgbClr val="EEF2F6"/>
            </a:solidFill>
            <a:prstDash val="solid"/>
          </a:ln>
          <a:effectLst>
            <a:outerShdw blurRad="101600" dist="38100" dir="2700000" algn="bl" rotWithShape="0">
              <a:srgbClr val="000000">
                <a:alpha val="12000"/>
              </a:srgbClr>
            </a:outerShdw>
          </a:effectLst>
        </p:spPr>
      </p:sp>
      <p:sp>
        <p:nvSpPr>
          <p:cNvPr id="13" name="Text 10"/>
          <p:cNvSpPr/>
          <p:nvPr/>
        </p:nvSpPr>
        <p:spPr>
          <a:xfrm>
            <a:off x="6537960" y="4169664"/>
            <a:ext cx="2606040" cy="256032"/>
          </a:xfrm>
          <a:prstGeom prst="rect">
            <a:avLst/>
          </a:prstGeom>
          <a:noFill/>
          <a:ln/>
        </p:spPr>
        <p:txBody>
          <a:bodyPr wrap="square" lIns="0" tIns="0" rIns="0" bIns="0" rtlCol="0" anchor="ctr"/>
          <a:lstStyle/>
          <a:p>
            <a:pPr marL="0" indent="0">
              <a:buNone/>
            </a:pPr>
            <a:r>
              <a:rPr lang="en-US" sz="1000" b="1" dirty="0">
                <a:solidFill>
                  <a:srgbClr val="0B6E4F"/>
                </a:solidFill>
                <a:latin typeface="Calibri" pitchFamily="34" charset="0"/>
                <a:ea typeface="Calibri" pitchFamily="34" charset="-122"/>
                <a:cs typeface="Calibri" pitchFamily="34" charset="-120"/>
              </a:rPr>
              <a:t>December Peak</a:t>
            </a:r>
            <a:endParaRPr lang="en-US" sz="1000" dirty="0"/>
          </a:p>
        </p:txBody>
      </p:sp>
      <p:sp>
        <p:nvSpPr>
          <p:cNvPr id="14" name="Text 11"/>
          <p:cNvSpPr/>
          <p:nvPr/>
        </p:nvSpPr>
        <p:spPr>
          <a:xfrm>
            <a:off x="6537960" y="4407408"/>
            <a:ext cx="2606040" cy="457200"/>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Year-end festive period produces a second major demand spike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6E4F"/>
          </a:solidFill>
          <a:ln w="12700">
            <a:solidFill>
              <a:srgbClr val="0B6E4F"/>
            </a:solidFill>
            <a:prstDash val="solid"/>
          </a:ln>
        </p:spPr>
      </p:sp>
      <p:sp>
        <p:nvSpPr>
          <p:cNvPr id="3" name="Text 1"/>
          <p:cNvSpPr/>
          <p:nvPr/>
        </p:nvSpPr>
        <p:spPr>
          <a:xfrm>
            <a:off x="457200" y="137160"/>
            <a:ext cx="777240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Weekly &amp; Monthly Demand Patterns</a:t>
            </a:r>
            <a:endParaRPr lang="en-US" sz="2600" dirty="0"/>
          </a:p>
        </p:txBody>
      </p:sp>
      <p:pic>
        <p:nvPicPr>
          <p:cNvPr id="5" name="Image 0" descr="preencoded.png"/>
          <p:cNvPicPr>
            <a:picLocks noChangeAspect="1"/>
          </p:cNvPicPr>
          <p:nvPr/>
        </p:nvPicPr>
        <p:blipFill>
          <a:blip r:embed="rId3"/>
          <a:stretch>
            <a:fillRect/>
          </a:stretch>
        </p:blipFill>
        <p:spPr>
          <a:xfrm>
            <a:off x="274320" y="1005840"/>
            <a:ext cx="8595360" cy="3108960"/>
          </a:xfrm>
          <a:prstGeom prst="rect">
            <a:avLst/>
          </a:prstGeom>
        </p:spPr>
      </p:pic>
      <p:sp>
        <p:nvSpPr>
          <p:cNvPr id="6" name="Shape 3"/>
          <p:cNvSpPr/>
          <p:nvPr/>
        </p:nvSpPr>
        <p:spPr>
          <a:xfrm>
            <a:off x="274320" y="4251960"/>
            <a:ext cx="4206240" cy="667512"/>
          </a:xfrm>
          <a:prstGeom prst="roundRect">
            <a:avLst>
              <a:gd name="adj" fmla="val 10959"/>
            </a:avLst>
          </a:prstGeom>
          <a:solidFill>
            <a:srgbClr val="FFFFFF"/>
          </a:solidFill>
          <a:ln w="12700">
            <a:solidFill>
              <a:srgbClr val="FFFFFF"/>
            </a:solidFill>
            <a:prstDash val="solid"/>
          </a:ln>
          <a:effectLst>
            <a:outerShdw blurRad="101600" dist="38100" dir="2700000" algn="bl" rotWithShape="0">
              <a:srgbClr val="000000">
                <a:alpha val="12000"/>
              </a:srgbClr>
            </a:outerShdw>
          </a:effectLst>
        </p:spPr>
      </p:sp>
      <p:sp>
        <p:nvSpPr>
          <p:cNvPr id="7" name="Text 4"/>
          <p:cNvSpPr/>
          <p:nvPr/>
        </p:nvSpPr>
        <p:spPr>
          <a:xfrm>
            <a:off x="457200" y="4315968"/>
            <a:ext cx="3840480" cy="228600"/>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Flat Daily Pattern</a:t>
            </a:r>
            <a:endParaRPr lang="en-US" sz="1000" dirty="0"/>
          </a:p>
        </p:txBody>
      </p:sp>
      <p:sp>
        <p:nvSpPr>
          <p:cNvPr id="8" name="Text 5"/>
          <p:cNvSpPr/>
          <p:nvPr/>
        </p:nvSpPr>
        <p:spPr>
          <a:xfrm>
            <a:off x="457200" y="4526280"/>
            <a:ext cx="3840480" cy="347472"/>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Daily demand varies by less than 0.5 units on average. No single shopping day dominates, which simplifies weekday replenishment planning.</a:t>
            </a:r>
            <a:endParaRPr lang="en-US" sz="950" dirty="0"/>
          </a:p>
        </p:txBody>
      </p:sp>
      <p:sp>
        <p:nvSpPr>
          <p:cNvPr id="9" name="Shape 6"/>
          <p:cNvSpPr/>
          <p:nvPr/>
        </p:nvSpPr>
        <p:spPr>
          <a:xfrm>
            <a:off x="4663440" y="4251960"/>
            <a:ext cx="4206240" cy="667512"/>
          </a:xfrm>
          <a:prstGeom prst="roundRect">
            <a:avLst>
              <a:gd name="adj" fmla="val 10959"/>
            </a:avLst>
          </a:prstGeom>
          <a:solidFill>
            <a:srgbClr val="FFFFFF"/>
          </a:solidFill>
          <a:ln w="12700">
            <a:solidFill>
              <a:srgbClr val="FFFFFF"/>
            </a:solidFill>
            <a:prstDash val="solid"/>
          </a:ln>
          <a:effectLst>
            <a:outerShdw blurRad="101600" dist="38100" dir="2700000" algn="bl" rotWithShape="0">
              <a:srgbClr val="000000">
                <a:alpha val="12000"/>
              </a:srgbClr>
            </a:outerShdw>
          </a:effectLst>
        </p:spPr>
      </p:sp>
      <p:sp>
        <p:nvSpPr>
          <p:cNvPr id="10" name="Text 7"/>
          <p:cNvSpPr/>
          <p:nvPr/>
        </p:nvSpPr>
        <p:spPr>
          <a:xfrm>
            <a:off x="4846320" y="4315968"/>
            <a:ext cx="3840480" cy="22860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April &amp; December Dominate</a:t>
            </a:r>
            <a:endParaRPr lang="en-US" sz="1000" dirty="0"/>
          </a:p>
        </p:txBody>
      </p:sp>
      <p:sp>
        <p:nvSpPr>
          <p:cNvPr id="11" name="Text 8"/>
          <p:cNvSpPr/>
          <p:nvPr/>
        </p:nvSpPr>
        <p:spPr>
          <a:xfrm>
            <a:off x="4846320" y="4526280"/>
            <a:ext cx="3840480" cy="347472"/>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Both months average 35+ units per day versus 22 to 25 units in low months. Seasonal uplift is entirely calendar-driven.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Text 1"/>
          <p:cNvSpPr/>
          <p:nvPr/>
        </p:nvSpPr>
        <p:spPr>
          <a:xfrm>
            <a:off x="457200" y="13716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Top Products &amp; Demand Volatility</a:t>
            </a:r>
            <a:endParaRPr lang="en-US" sz="2600" dirty="0"/>
          </a:p>
        </p:txBody>
      </p:sp>
      <p:sp>
        <p:nvSpPr>
          <p:cNvPr id="4" name="Shape 2"/>
          <p:cNvSpPr/>
          <p:nvPr/>
        </p:nvSpPr>
        <p:spPr>
          <a:xfrm>
            <a:off x="320040" y="1024128"/>
            <a:ext cx="2651760" cy="1874520"/>
          </a:xfrm>
          <a:prstGeom prst="roundRect">
            <a:avLst>
              <a:gd name="adj" fmla="val 4878"/>
            </a:avLst>
          </a:prstGeom>
          <a:solidFill>
            <a:srgbClr val="0D1B2A"/>
          </a:solidFill>
          <a:ln w="12700">
            <a:solidFill>
              <a:srgbClr val="0D1B2A"/>
            </a:solidFill>
            <a:prstDash val="solid"/>
          </a:ln>
          <a:effectLst>
            <a:outerShdw blurRad="101600" dist="38100" dir="2700000" algn="bl" rotWithShape="0">
              <a:srgbClr val="000000">
                <a:alpha val="12000"/>
              </a:srgbClr>
            </a:outerShdw>
          </a:effectLst>
        </p:spPr>
      </p:sp>
      <p:sp>
        <p:nvSpPr>
          <p:cNvPr id="5" name="Text 3"/>
          <p:cNvSpPr/>
          <p:nvPr/>
        </p:nvSpPr>
        <p:spPr>
          <a:xfrm>
            <a:off x="457200" y="1078992"/>
            <a:ext cx="457200" cy="347472"/>
          </a:xfrm>
          <a:prstGeom prst="rect">
            <a:avLst/>
          </a:prstGeom>
          <a:noFill/>
          <a:ln/>
        </p:spPr>
        <p:txBody>
          <a:bodyPr wrap="square" lIns="0" tIns="0" rIns="0" bIns="0" rtlCol="0" anchor="ctr"/>
          <a:lstStyle/>
          <a:p>
            <a:pPr marL="0" indent="0">
              <a:buNone/>
            </a:pPr>
            <a:r>
              <a:rPr lang="en-US" sz="2000" b="1" dirty="0">
                <a:solidFill>
                  <a:srgbClr val="E2A829"/>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457200" y="1371600"/>
            <a:ext cx="2423160" cy="50292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Bread</a:t>
            </a:r>
            <a:endParaRPr lang="en-US" sz="2000" dirty="0"/>
          </a:p>
        </p:txBody>
      </p:sp>
      <p:sp>
        <p:nvSpPr>
          <p:cNvPr id="7" name="Text 5"/>
          <p:cNvSpPr/>
          <p:nvPr/>
        </p:nvSpPr>
        <p:spPr>
          <a:xfrm>
            <a:off x="457200" y="1828800"/>
            <a:ext cx="2423160" cy="256032"/>
          </a:xfrm>
          <a:prstGeom prst="rect">
            <a:avLst/>
          </a:prstGeom>
          <a:noFill/>
          <a:ln/>
        </p:spPr>
        <p:txBody>
          <a:bodyPr wrap="square" lIns="0" tIns="0" rIns="0" bIns="0" rtlCol="0" anchor="ctr"/>
          <a:lstStyle/>
          <a:p>
            <a:pPr marL="0" indent="0">
              <a:buNone/>
            </a:pPr>
            <a:r>
              <a:rPr lang="en-US" sz="1000" dirty="0">
                <a:solidFill>
                  <a:srgbClr val="A8C5B5"/>
                </a:solidFill>
                <a:latin typeface="Calibri" pitchFamily="34" charset="0"/>
                <a:ea typeface="Calibri" pitchFamily="34" charset="-122"/>
                <a:cs typeface="Calibri" pitchFamily="34" charset="-120"/>
              </a:rPr>
              <a:t>142,542 units sold</a:t>
            </a:r>
            <a:endParaRPr lang="en-US" sz="1000" dirty="0"/>
          </a:p>
        </p:txBody>
      </p:sp>
      <p:sp>
        <p:nvSpPr>
          <p:cNvPr id="8" name="Text 6"/>
          <p:cNvSpPr/>
          <p:nvPr/>
        </p:nvSpPr>
        <p:spPr>
          <a:xfrm>
            <a:off x="457200" y="2066544"/>
            <a:ext cx="2423160" cy="256032"/>
          </a:xfrm>
          <a:prstGeom prst="rect">
            <a:avLst/>
          </a:prstGeom>
          <a:noFill/>
          <a:ln/>
        </p:spPr>
        <p:txBody>
          <a:bodyPr wrap="square" lIns="0" tIns="0" rIns="0" bIns="0" rtlCol="0" anchor="ctr"/>
          <a:lstStyle/>
          <a:p>
            <a:pPr marL="0" indent="0">
              <a:buNone/>
            </a:pPr>
            <a:r>
              <a:rPr lang="en-US" sz="1000" b="1" dirty="0">
                <a:solidFill>
                  <a:srgbClr val="E2A829"/>
                </a:solidFill>
                <a:latin typeface="Calibri" pitchFamily="34" charset="0"/>
                <a:ea typeface="Calibri" pitchFamily="34" charset="-122"/>
                <a:cs typeface="Calibri" pitchFamily="34" charset="-120"/>
              </a:rPr>
              <a:t>₦1.12B revenue</a:t>
            </a:r>
            <a:endParaRPr lang="en-US" sz="1000" dirty="0"/>
          </a:p>
        </p:txBody>
      </p:sp>
      <p:sp>
        <p:nvSpPr>
          <p:cNvPr id="9" name="Text 7"/>
          <p:cNvSpPr/>
          <p:nvPr/>
        </p:nvSpPr>
        <p:spPr>
          <a:xfrm>
            <a:off x="457200" y="2487168"/>
            <a:ext cx="2423160" cy="256032"/>
          </a:xfrm>
          <a:prstGeom prst="rect">
            <a:avLst/>
          </a:prstGeom>
          <a:noFill/>
          <a:ln/>
        </p:spPr>
        <p:txBody>
          <a:bodyPr wrap="square" lIns="0" tIns="0" rIns="0" bIns="0" rtlCol="0" anchor="ctr"/>
          <a:lstStyle/>
          <a:p>
            <a:pPr marL="0" indent="0">
              <a:buNone/>
            </a:pPr>
            <a:r>
              <a:rPr lang="en-US" sz="900" dirty="0">
                <a:solidFill>
                  <a:srgbClr val="6B7B8D"/>
                </a:solidFill>
                <a:latin typeface="Calibri" pitchFamily="34" charset="0"/>
                <a:ea typeface="Calibri" pitchFamily="34" charset="-122"/>
                <a:cs typeface="Calibri" pitchFamily="34" charset="-120"/>
              </a:rPr>
              <a:t>Bakery</a:t>
            </a:r>
            <a:endParaRPr lang="en-US" sz="900" dirty="0"/>
          </a:p>
        </p:txBody>
      </p:sp>
      <p:sp>
        <p:nvSpPr>
          <p:cNvPr id="10" name="Shape 8"/>
          <p:cNvSpPr/>
          <p:nvPr/>
        </p:nvSpPr>
        <p:spPr>
          <a:xfrm>
            <a:off x="3310128" y="1024128"/>
            <a:ext cx="2651760" cy="1874520"/>
          </a:xfrm>
          <a:prstGeom prst="roundRect">
            <a:avLst>
              <a:gd name="adj" fmla="val 4878"/>
            </a:avLst>
          </a:prstGeom>
          <a:solidFill>
            <a:srgbClr val="0D1B2A"/>
          </a:solidFill>
          <a:ln w="12700">
            <a:solidFill>
              <a:srgbClr val="0D1B2A"/>
            </a:solidFill>
            <a:prstDash val="solid"/>
          </a:ln>
          <a:effectLst>
            <a:outerShdw blurRad="101600" dist="38100" dir="2700000" algn="bl" rotWithShape="0">
              <a:srgbClr val="000000">
                <a:alpha val="12000"/>
              </a:srgbClr>
            </a:outerShdw>
          </a:effectLst>
        </p:spPr>
      </p:sp>
      <p:sp>
        <p:nvSpPr>
          <p:cNvPr id="11" name="Text 9"/>
          <p:cNvSpPr/>
          <p:nvPr/>
        </p:nvSpPr>
        <p:spPr>
          <a:xfrm>
            <a:off x="3447288" y="1078992"/>
            <a:ext cx="457200" cy="347472"/>
          </a:xfrm>
          <a:prstGeom prst="rect">
            <a:avLst/>
          </a:prstGeom>
          <a:noFill/>
          <a:ln/>
        </p:spPr>
        <p:txBody>
          <a:bodyPr wrap="square" lIns="0" tIns="0" rIns="0" bIns="0" rtlCol="0" anchor="ctr"/>
          <a:lstStyle/>
          <a:p>
            <a:pPr marL="0" indent="0">
              <a:buNone/>
            </a:pPr>
            <a:r>
              <a:rPr lang="en-US" sz="2000" b="1" dirty="0">
                <a:solidFill>
                  <a:srgbClr val="E2A829"/>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3447288" y="1371600"/>
            <a:ext cx="2423160" cy="50292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Indomie</a:t>
            </a:r>
            <a:endParaRPr lang="en-US" sz="2000" dirty="0"/>
          </a:p>
          <a:p>
            <a:pPr marL="0" indent="0">
              <a:buNone/>
            </a:pPr>
            <a:r>
              <a:rPr lang="en-US" sz="2000" b="1" dirty="0">
                <a:solidFill>
                  <a:srgbClr val="FFFFFF"/>
                </a:solidFill>
                <a:latin typeface="Cambria" pitchFamily="34" charset="0"/>
                <a:ea typeface="Cambria" pitchFamily="34" charset="-122"/>
                <a:cs typeface="Cambria" pitchFamily="34" charset="-120"/>
              </a:rPr>
              <a:t>Noodles</a:t>
            </a:r>
            <a:endParaRPr lang="en-US" sz="2000" dirty="0"/>
          </a:p>
        </p:txBody>
      </p:sp>
      <p:sp>
        <p:nvSpPr>
          <p:cNvPr id="13" name="Text 11"/>
          <p:cNvSpPr/>
          <p:nvPr/>
        </p:nvSpPr>
        <p:spPr>
          <a:xfrm>
            <a:off x="3447288" y="1828800"/>
            <a:ext cx="2423160" cy="256032"/>
          </a:xfrm>
          <a:prstGeom prst="rect">
            <a:avLst/>
          </a:prstGeom>
          <a:noFill/>
          <a:ln/>
        </p:spPr>
        <p:txBody>
          <a:bodyPr wrap="square" lIns="0" tIns="0" rIns="0" bIns="0" rtlCol="0" anchor="ctr"/>
          <a:lstStyle/>
          <a:p>
            <a:pPr marL="0" indent="0">
              <a:buNone/>
            </a:pPr>
            <a:r>
              <a:rPr lang="en-US" sz="1000" dirty="0">
                <a:solidFill>
                  <a:srgbClr val="A8C5B5"/>
                </a:solidFill>
                <a:latin typeface="Calibri" pitchFamily="34" charset="0"/>
                <a:ea typeface="Calibri" pitchFamily="34" charset="-122"/>
                <a:cs typeface="Calibri" pitchFamily="34" charset="-120"/>
              </a:rPr>
              <a:t>141,675 units sold</a:t>
            </a:r>
            <a:endParaRPr lang="en-US" sz="1000" dirty="0"/>
          </a:p>
        </p:txBody>
      </p:sp>
      <p:sp>
        <p:nvSpPr>
          <p:cNvPr id="14" name="Text 12"/>
          <p:cNvSpPr/>
          <p:nvPr/>
        </p:nvSpPr>
        <p:spPr>
          <a:xfrm>
            <a:off x="3447288" y="2066544"/>
            <a:ext cx="2423160" cy="256032"/>
          </a:xfrm>
          <a:prstGeom prst="rect">
            <a:avLst/>
          </a:prstGeom>
          <a:noFill/>
          <a:ln/>
        </p:spPr>
        <p:txBody>
          <a:bodyPr wrap="square" lIns="0" tIns="0" rIns="0" bIns="0" rtlCol="0" anchor="ctr"/>
          <a:lstStyle/>
          <a:p>
            <a:pPr marL="0" indent="0">
              <a:buNone/>
            </a:pPr>
            <a:r>
              <a:rPr lang="en-US" sz="1000" b="1" dirty="0">
                <a:solidFill>
                  <a:srgbClr val="E2A829"/>
                </a:solidFill>
                <a:latin typeface="Calibri" pitchFamily="34" charset="0"/>
                <a:ea typeface="Calibri" pitchFamily="34" charset="-122"/>
                <a:cs typeface="Calibri" pitchFamily="34" charset="-120"/>
              </a:rPr>
              <a:t>₦1.56B revenue</a:t>
            </a:r>
            <a:endParaRPr lang="en-US" sz="1000" dirty="0"/>
          </a:p>
        </p:txBody>
      </p:sp>
      <p:sp>
        <p:nvSpPr>
          <p:cNvPr id="15" name="Text 13"/>
          <p:cNvSpPr/>
          <p:nvPr/>
        </p:nvSpPr>
        <p:spPr>
          <a:xfrm>
            <a:off x="3447288" y="2487168"/>
            <a:ext cx="2423160" cy="256032"/>
          </a:xfrm>
          <a:prstGeom prst="rect">
            <a:avLst/>
          </a:prstGeom>
          <a:noFill/>
          <a:ln/>
        </p:spPr>
        <p:txBody>
          <a:bodyPr wrap="square" lIns="0" tIns="0" rIns="0" bIns="0" rtlCol="0" anchor="ctr"/>
          <a:lstStyle/>
          <a:p>
            <a:pPr marL="0" indent="0">
              <a:buNone/>
            </a:pPr>
            <a:r>
              <a:rPr lang="en-US" sz="900" dirty="0">
                <a:solidFill>
                  <a:srgbClr val="6B7B8D"/>
                </a:solidFill>
                <a:latin typeface="Calibri" pitchFamily="34" charset="0"/>
                <a:ea typeface="Calibri" pitchFamily="34" charset="-122"/>
                <a:cs typeface="Calibri" pitchFamily="34" charset="-120"/>
              </a:rPr>
              <a:t>Food</a:t>
            </a:r>
            <a:endParaRPr lang="en-US" sz="900" dirty="0"/>
          </a:p>
        </p:txBody>
      </p:sp>
      <p:sp>
        <p:nvSpPr>
          <p:cNvPr id="16" name="Shape 14"/>
          <p:cNvSpPr/>
          <p:nvPr/>
        </p:nvSpPr>
        <p:spPr>
          <a:xfrm>
            <a:off x="6309360" y="1024128"/>
            <a:ext cx="2651760" cy="1874520"/>
          </a:xfrm>
          <a:prstGeom prst="roundRect">
            <a:avLst>
              <a:gd name="adj" fmla="val 4878"/>
            </a:avLst>
          </a:prstGeom>
          <a:solidFill>
            <a:srgbClr val="0D1B2A"/>
          </a:solidFill>
          <a:ln w="12700">
            <a:solidFill>
              <a:srgbClr val="0D1B2A"/>
            </a:solidFill>
            <a:prstDash val="solid"/>
          </a:ln>
          <a:effectLst>
            <a:outerShdw blurRad="101600" dist="38100" dir="2700000" algn="bl" rotWithShape="0">
              <a:srgbClr val="000000">
                <a:alpha val="12000"/>
              </a:srgbClr>
            </a:outerShdw>
          </a:effectLst>
        </p:spPr>
      </p:sp>
      <p:sp>
        <p:nvSpPr>
          <p:cNvPr id="17" name="Text 15"/>
          <p:cNvSpPr/>
          <p:nvPr/>
        </p:nvSpPr>
        <p:spPr>
          <a:xfrm>
            <a:off x="6446520" y="1078992"/>
            <a:ext cx="457200" cy="347472"/>
          </a:xfrm>
          <a:prstGeom prst="rect">
            <a:avLst/>
          </a:prstGeom>
          <a:noFill/>
          <a:ln/>
        </p:spPr>
        <p:txBody>
          <a:bodyPr wrap="square" lIns="0" tIns="0" rIns="0" bIns="0" rtlCol="0" anchor="ctr"/>
          <a:lstStyle/>
          <a:p>
            <a:pPr marL="0" indent="0">
              <a:buNone/>
            </a:pPr>
            <a:r>
              <a:rPr lang="en-US" sz="2000" b="1" dirty="0">
                <a:solidFill>
                  <a:srgbClr val="E2A829"/>
                </a:solidFill>
                <a:latin typeface="Cambria" pitchFamily="34" charset="0"/>
                <a:ea typeface="Cambria" pitchFamily="34" charset="-122"/>
                <a:cs typeface="Cambria" pitchFamily="34" charset="-120"/>
              </a:rPr>
              <a:t>#3</a:t>
            </a:r>
            <a:endParaRPr lang="en-US" sz="2000" dirty="0"/>
          </a:p>
        </p:txBody>
      </p:sp>
      <p:sp>
        <p:nvSpPr>
          <p:cNvPr id="18" name="Text 16"/>
          <p:cNvSpPr/>
          <p:nvPr/>
        </p:nvSpPr>
        <p:spPr>
          <a:xfrm>
            <a:off x="6446520" y="1371600"/>
            <a:ext cx="2423160" cy="50292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Rice</a:t>
            </a:r>
            <a:endParaRPr lang="en-US" sz="2000" dirty="0"/>
          </a:p>
        </p:txBody>
      </p:sp>
      <p:sp>
        <p:nvSpPr>
          <p:cNvPr id="19" name="Text 17"/>
          <p:cNvSpPr/>
          <p:nvPr/>
        </p:nvSpPr>
        <p:spPr>
          <a:xfrm>
            <a:off x="6446520" y="1828800"/>
            <a:ext cx="2423160" cy="256032"/>
          </a:xfrm>
          <a:prstGeom prst="rect">
            <a:avLst/>
          </a:prstGeom>
          <a:noFill/>
          <a:ln/>
        </p:spPr>
        <p:txBody>
          <a:bodyPr wrap="square" lIns="0" tIns="0" rIns="0" bIns="0" rtlCol="0" anchor="ctr"/>
          <a:lstStyle/>
          <a:p>
            <a:pPr marL="0" indent="0">
              <a:buNone/>
            </a:pPr>
            <a:r>
              <a:rPr lang="en-US" sz="1000" dirty="0">
                <a:solidFill>
                  <a:srgbClr val="A8C5B5"/>
                </a:solidFill>
                <a:latin typeface="Calibri" pitchFamily="34" charset="0"/>
                <a:ea typeface="Calibri" pitchFamily="34" charset="-122"/>
                <a:cs typeface="Calibri" pitchFamily="34" charset="-120"/>
              </a:rPr>
              <a:t>140,280 units sold</a:t>
            </a:r>
            <a:endParaRPr lang="en-US" sz="1000" dirty="0"/>
          </a:p>
        </p:txBody>
      </p:sp>
      <p:sp>
        <p:nvSpPr>
          <p:cNvPr id="20" name="Text 18"/>
          <p:cNvSpPr/>
          <p:nvPr/>
        </p:nvSpPr>
        <p:spPr>
          <a:xfrm>
            <a:off x="6446520" y="2066544"/>
            <a:ext cx="2423160" cy="256032"/>
          </a:xfrm>
          <a:prstGeom prst="rect">
            <a:avLst/>
          </a:prstGeom>
          <a:noFill/>
          <a:ln/>
        </p:spPr>
        <p:txBody>
          <a:bodyPr wrap="square" lIns="0" tIns="0" rIns="0" bIns="0" rtlCol="0" anchor="ctr"/>
          <a:lstStyle/>
          <a:p>
            <a:pPr marL="0" indent="0">
              <a:buNone/>
            </a:pPr>
            <a:r>
              <a:rPr lang="en-US" sz="1000" b="1" dirty="0">
                <a:solidFill>
                  <a:srgbClr val="E2A829"/>
                </a:solidFill>
                <a:latin typeface="Calibri" pitchFamily="34" charset="0"/>
                <a:ea typeface="Calibri" pitchFamily="34" charset="-122"/>
                <a:cs typeface="Calibri" pitchFamily="34" charset="-120"/>
              </a:rPr>
              <a:t>₦594M revenue</a:t>
            </a:r>
            <a:endParaRPr lang="en-US" sz="1000" dirty="0"/>
          </a:p>
        </p:txBody>
      </p:sp>
      <p:sp>
        <p:nvSpPr>
          <p:cNvPr id="21" name="Text 19"/>
          <p:cNvSpPr/>
          <p:nvPr/>
        </p:nvSpPr>
        <p:spPr>
          <a:xfrm>
            <a:off x="6446520" y="2487168"/>
            <a:ext cx="2423160" cy="256032"/>
          </a:xfrm>
          <a:prstGeom prst="rect">
            <a:avLst/>
          </a:prstGeom>
          <a:noFill/>
          <a:ln/>
        </p:spPr>
        <p:txBody>
          <a:bodyPr wrap="square" lIns="0" tIns="0" rIns="0" bIns="0" rtlCol="0" anchor="ctr"/>
          <a:lstStyle/>
          <a:p>
            <a:pPr marL="0" indent="0">
              <a:buNone/>
            </a:pPr>
            <a:r>
              <a:rPr lang="en-US" sz="900" dirty="0">
                <a:solidFill>
                  <a:srgbClr val="6B7B8D"/>
                </a:solidFill>
                <a:latin typeface="Calibri" pitchFamily="34" charset="0"/>
                <a:ea typeface="Calibri" pitchFamily="34" charset="-122"/>
                <a:cs typeface="Calibri" pitchFamily="34" charset="-120"/>
              </a:rPr>
              <a:t>Food</a:t>
            </a:r>
            <a:endParaRPr lang="en-US" sz="900" dirty="0"/>
          </a:p>
        </p:txBody>
      </p:sp>
      <p:sp>
        <p:nvSpPr>
          <p:cNvPr id="22" name="Text 20"/>
          <p:cNvSpPr/>
          <p:nvPr/>
        </p:nvSpPr>
        <p:spPr>
          <a:xfrm>
            <a:off x="320040" y="3127248"/>
            <a:ext cx="8503920" cy="256032"/>
          </a:xfrm>
          <a:prstGeom prst="rect">
            <a:avLst/>
          </a:prstGeom>
          <a:noFill/>
          <a:ln/>
        </p:spPr>
        <p:txBody>
          <a:bodyPr wrap="square" lIns="0" tIns="0" rIns="0" bIns="0" rtlCol="0" anchor="ctr"/>
          <a:lstStyle/>
          <a:p>
            <a:pPr marL="0" indent="0">
              <a:buNone/>
            </a:pPr>
            <a:r>
              <a:rPr lang="en-US" sz="900" b="1" kern="0" spc="300" dirty="0">
                <a:solidFill>
                  <a:srgbClr val="0B6E4F"/>
                </a:solidFill>
                <a:latin typeface="Calibri" pitchFamily="34" charset="0"/>
                <a:ea typeface="Calibri" pitchFamily="34" charset="-122"/>
                <a:cs typeface="Calibri" pitchFamily="34" charset="-120"/>
              </a:rPr>
              <a:t>DEMAND VARIABILITY BY CATEGORY</a:t>
            </a:r>
            <a:endParaRPr lang="en-US" sz="900" dirty="0"/>
          </a:p>
        </p:txBody>
      </p:sp>
      <p:sp>
        <p:nvSpPr>
          <p:cNvPr id="23" name="Text 21"/>
          <p:cNvSpPr/>
          <p:nvPr/>
        </p:nvSpPr>
        <p:spPr>
          <a:xfrm>
            <a:off x="320040" y="3456432"/>
            <a:ext cx="1645920" cy="256032"/>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Food</a:t>
            </a:r>
            <a:endParaRPr lang="en-US" sz="1000" dirty="0"/>
          </a:p>
        </p:txBody>
      </p:sp>
      <p:sp>
        <p:nvSpPr>
          <p:cNvPr id="24" name="Shape 22"/>
          <p:cNvSpPr/>
          <p:nvPr/>
        </p:nvSpPr>
        <p:spPr>
          <a:xfrm>
            <a:off x="1920240" y="3502152"/>
            <a:ext cx="3291840" cy="182880"/>
          </a:xfrm>
          <a:prstGeom prst="rect">
            <a:avLst/>
          </a:prstGeom>
          <a:solidFill>
            <a:srgbClr val="0B6E4F"/>
          </a:solidFill>
          <a:ln w="12700">
            <a:solidFill>
              <a:srgbClr val="0B6E4F"/>
            </a:solidFill>
            <a:prstDash val="solid"/>
          </a:ln>
        </p:spPr>
      </p:sp>
      <p:sp>
        <p:nvSpPr>
          <p:cNvPr id="25" name="Text 23"/>
          <p:cNvSpPr/>
          <p:nvPr/>
        </p:nvSpPr>
        <p:spPr>
          <a:xfrm>
            <a:off x="5303520" y="3456432"/>
            <a:ext cx="914400" cy="256032"/>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59.2%</a:t>
            </a:r>
            <a:endParaRPr lang="en-US" sz="1000" dirty="0"/>
          </a:p>
        </p:txBody>
      </p:sp>
      <p:sp>
        <p:nvSpPr>
          <p:cNvPr id="26" name="Text 24"/>
          <p:cNvSpPr/>
          <p:nvPr/>
        </p:nvSpPr>
        <p:spPr>
          <a:xfrm>
            <a:off x="320040" y="3803904"/>
            <a:ext cx="1645920" cy="256032"/>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Frozen Foods</a:t>
            </a:r>
            <a:endParaRPr lang="en-US" sz="1000" dirty="0"/>
          </a:p>
        </p:txBody>
      </p:sp>
      <p:sp>
        <p:nvSpPr>
          <p:cNvPr id="27" name="Shape 25"/>
          <p:cNvSpPr/>
          <p:nvPr/>
        </p:nvSpPr>
        <p:spPr>
          <a:xfrm>
            <a:off x="1920240" y="3849624"/>
            <a:ext cx="3145536" cy="182880"/>
          </a:xfrm>
          <a:prstGeom prst="rect">
            <a:avLst/>
          </a:prstGeom>
          <a:solidFill>
            <a:srgbClr val="0B6E4F"/>
          </a:solidFill>
          <a:ln w="12700">
            <a:solidFill>
              <a:srgbClr val="0B6E4F"/>
            </a:solidFill>
            <a:prstDash val="solid"/>
          </a:ln>
        </p:spPr>
      </p:sp>
      <p:sp>
        <p:nvSpPr>
          <p:cNvPr id="28" name="Text 26"/>
          <p:cNvSpPr/>
          <p:nvPr/>
        </p:nvSpPr>
        <p:spPr>
          <a:xfrm>
            <a:off x="5157216" y="3803904"/>
            <a:ext cx="914400" cy="256032"/>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56.8%</a:t>
            </a:r>
            <a:endParaRPr lang="en-US" sz="1000" dirty="0"/>
          </a:p>
        </p:txBody>
      </p:sp>
      <p:sp>
        <p:nvSpPr>
          <p:cNvPr id="29" name="Text 27"/>
          <p:cNvSpPr/>
          <p:nvPr/>
        </p:nvSpPr>
        <p:spPr>
          <a:xfrm>
            <a:off x="320040" y="4151376"/>
            <a:ext cx="1645920" cy="256032"/>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Snacks</a:t>
            </a:r>
            <a:endParaRPr lang="en-US" sz="1000" dirty="0"/>
          </a:p>
        </p:txBody>
      </p:sp>
      <p:sp>
        <p:nvSpPr>
          <p:cNvPr id="30" name="Shape 28"/>
          <p:cNvSpPr/>
          <p:nvPr/>
        </p:nvSpPr>
        <p:spPr>
          <a:xfrm>
            <a:off x="1920240" y="4197096"/>
            <a:ext cx="3145536" cy="182880"/>
          </a:xfrm>
          <a:prstGeom prst="rect">
            <a:avLst/>
          </a:prstGeom>
          <a:solidFill>
            <a:srgbClr val="0B6E4F"/>
          </a:solidFill>
          <a:ln w="12700">
            <a:solidFill>
              <a:srgbClr val="0B6E4F"/>
            </a:solidFill>
            <a:prstDash val="solid"/>
          </a:ln>
        </p:spPr>
      </p:sp>
      <p:sp>
        <p:nvSpPr>
          <p:cNvPr id="31" name="Text 29"/>
          <p:cNvSpPr/>
          <p:nvPr/>
        </p:nvSpPr>
        <p:spPr>
          <a:xfrm>
            <a:off x="5157216" y="4151376"/>
            <a:ext cx="914400" cy="256032"/>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56.5%</a:t>
            </a:r>
            <a:endParaRPr lang="en-US" sz="1000" dirty="0"/>
          </a:p>
        </p:txBody>
      </p:sp>
      <p:sp>
        <p:nvSpPr>
          <p:cNvPr id="32" name="Text 30"/>
          <p:cNvSpPr/>
          <p:nvPr/>
        </p:nvSpPr>
        <p:spPr>
          <a:xfrm>
            <a:off x="320040" y="4498848"/>
            <a:ext cx="1645920" cy="256032"/>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Bakery</a:t>
            </a:r>
            <a:endParaRPr lang="en-US" sz="1000" dirty="0"/>
          </a:p>
        </p:txBody>
      </p:sp>
      <p:sp>
        <p:nvSpPr>
          <p:cNvPr id="33" name="Shape 31"/>
          <p:cNvSpPr/>
          <p:nvPr/>
        </p:nvSpPr>
        <p:spPr>
          <a:xfrm>
            <a:off x="1920240" y="4544568"/>
            <a:ext cx="2926080" cy="182880"/>
          </a:xfrm>
          <a:prstGeom prst="rect">
            <a:avLst/>
          </a:prstGeom>
          <a:solidFill>
            <a:srgbClr val="0B6E4F"/>
          </a:solidFill>
          <a:ln w="12700">
            <a:solidFill>
              <a:srgbClr val="0B6E4F"/>
            </a:solidFill>
            <a:prstDash val="solid"/>
          </a:ln>
        </p:spPr>
      </p:sp>
      <p:sp>
        <p:nvSpPr>
          <p:cNvPr id="34" name="Text 32"/>
          <p:cNvSpPr/>
          <p:nvPr/>
        </p:nvSpPr>
        <p:spPr>
          <a:xfrm>
            <a:off x="4937760" y="4498848"/>
            <a:ext cx="914400" cy="256032"/>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52.7%</a:t>
            </a:r>
            <a:endParaRPr lang="en-US" sz="1000" dirty="0"/>
          </a:p>
        </p:txBody>
      </p:sp>
      <p:sp>
        <p:nvSpPr>
          <p:cNvPr id="35" name="Text 33"/>
          <p:cNvSpPr/>
          <p:nvPr/>
        </p:nvSpPr>
        <p:spPr>
          <a:xfrm>
            <a:off x="320040" y="4828032"/>
            <a:ext cx="8503920" cy="228600"/>
          </a:xfrm>
          <a:prstGeom prst="rect">
            <a:avLst/>
          </a:prstGeom>
          <a:noFill/>
          <a:ln/>
        </p:spPr>
        <p:txBody>
          <a:bodyPr wrap="square" lIns="0" tIns="0" rIns="0" bIns="0" rtlCol="0" anchor="ctr"/>
          <a:lstStyle/>
          <a:p>
            <a:pPr marL="0" indent="0">
              <a:buNone/>
            </a:pPr>
            <a:r>
              <a:rPr lang="en-US" sz="950" i="1" dirty="0">
                <a:solidFill>
                  <a:srgbClr val="6B7B8D"/>
                </a:solidFill>
                <a:latin typeface="Calibri" pitchFamily="34" charset="0"/>
                <a:ea typeface="Calibri" pitchFamily="34" charset="-122"/>
                <a:cs typeface="Calibri" pitchFamily="34" charset="-120"/>
              </a:rPr>
              <a:t>Every category exceeds 50% demand variability, making simple average-based forecasting unreliable.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6E4F"/>
          </a:solidFill>
          <a:ln w="12700">
            <a:solidFill>
              <a:srgbClr val="0B6E4F"/>
            </a:solidFill>
            <a:prstDash val="solid"/>
          </a:ln>
        </p:spPr>
      </p:sp>
      <p:sp>
        <p:nvSpPr>
          <p:cNvPr id="3" name="Text 1"/>
          <p:cNvSpPr/>
          <p:nvPr/>
        </p:nvSpPr>
        <p:spPr>
          <a:xfrm>
            <a:off x="457200" y="13716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Seasonal Demand Behaviour</a:t>
            </a:r>
            <a:endParaRPr lang="en-US" sz="2600" dirty="0"/>
          </a:p>
        </p:txBody>
      </p:sp>
      <p:pic>
        <p:nvPicPr>
          <p:cNvPr id="4" name="Image 0" descr="preencoded.png"/>
          <p:cNvPicPr>
            <a:picLocks noChangeAspect="1"/>
          </p:cNvPicPr>
          <p:nvPr/>
        </p:nvPicPr>
        <p:blipFill>
          <a:blip r:embed="rId3"/>
          <a:stretch>
            <a:fillRect/>
          </a:stretch>
        </p:blipFill>
        <p:spPr>
          <a:xfrm>
            <a:off x="274320" y="1005840"/>
            <a:ext cx="8595360" cy="3200400"/>
          </a:xfrm>
          <a:prstGeom prst="rect">
            <a:avLst/>
          </a:prstGeom>
        </p:spPr>
      </p:pic>
      <p:sp>
        <p:nvSpPr>
          <p:cNvPr id="5" name="Shape 2"/>
          <p:cNvSpPr/>
          <p:nvPr/>
        </p:nvSpPr>
        <p:spPr>
          <a:xfrm>
            <a:off x="274320" y="4352544"/>
            <a:ext cx="2834640" cy="594360"/>
          </a:xfrm>
          <a:prstGeom prst="roundRect">
            <a:avLst>
              <a:gd name="adj" fmla="val 12308"/>
            </a:avLst>
          </a:prstGeom>
          <a:solidFill>
            <a:srgbClr val="FFFFFF"/>
          </a:solidFill>
          <a:ln w="12700">
            <a:solidFill>
              <a:srgbClr val="FFFFFF"/>
            </a:solidFill>
            <a:prstDash val="solid"/>
          </a:ln>
          <a:effectLst>
            <a:outerShdw blurRad="101600" dist="38100" dir="2700000" algn="bl" rotWithShape="0">
              <a:srgbClr val="000000">
                <a:alpha val="12000"/>
              </a:srgbClr>
            </a:outerShdw>
          </a:effectLst>
        </p:spPr>
      </p:sp>
      <p:sp>
        <p:nvSpPr>
          <p:cNvPr id="6" name="Text 3"/>
          <p:cNvSpPr/>
          <p:nvPr/>
        </p:nvSpPr>
        <p:spPr>
          <a:xfrm>
            <a:off x="411480" y="4389120"/>
            <a:ext cx="1005840" cy="320040"/>
          </a:xfrm>
          <a:prstGeom prst="rect">
            <a:avLst/>
          </a:prstGeom>
          <a:noFill/>
          <a:ln/>
        </p:spPr>
        <p:txBody>
          <a:bodyPr wrap="square" lIns="0" tIns="0" rIns="0" bIns="0" rtlCol="0" anchor="ctr"/>
          <a:lstStyle/>
          <a:p>
            <a:pPr marL="0" indent="0">
              <a:buNone/>
            </a:pPr>
            <a:r>
              <a:rPr lang="en-US" sz="1600" b="1" dirty="0">
                <a:solidFill>
                  <a:srgbClr val="0D1B2A"/>
                </a:solidFill>
                <a:latin typeface="Cambria" pitchFamily="34" charset="0"/>
                <a:ea typeface="Cambria" pitchFamily="34" charset="-122"/>
                <a:cs typeface="Cambria" pitchFamily="34" charset="-120"/>
              </a:rPr>
              <a:t>+47%</a:t>
            </a:r>
            <a:endParaRPr lang="en-US" sz="1600" dirty="0"/>
          </a:p>
        </p:txBody>
      </p:sp>
      <p:sp>
        <p:nvSpPr>
          <p:cNvPr id="7" name="Text 4"/>
          <p:cNvSpPr/>
          <p:nvPr/>
        </p:nvSpPr>
        <p:spPr>
          <a:xfrm>
            <a:off x="411480" y="4681728"/>
            <a:ext cx="2560320" cy="219456"/>
          </a:xfrm>
          <a:prstGeom prst="rect">
            <a:avLst/>
          </a:prstGeom>
          <a:noFill/>
          <a:ln/>
        </p:spPr>
        <p:txBody>
          <a:bodyPr wrap="square" lIns="0" tIns="0" rIns="0" bIns="0" rtlCol="0" anchor="ctr"/>
          <a:lstStyle/>
          <a:p>
            <a:pPr marL="0" indent="0">
              <a:buNone/>
            </a:pPr>
            <a:r>
              <a:rPr lang="en-US" sz="850" b="1" dirty="0">
                <a:solidFill>
                  <a:srgbClr val="0B6E4F"/>
                </a:solidFill>
                <a:latin typeface="Calibri" pitchFamily="34" charset="0"/>
                <a:ea typeface="Calibri" pitchFamily="34" charset="-122"/>
                <a:cs typeface="Calibri" pitchFamily="34" charset="-120"/>
              </a:rPr>
              <a:t>Festive Uplift</a:t>
            </a:r>
            <a:endParaRPr lang="en-US" sz="850" dirty="0"/>
          </a:p>
        </p:txBody>
      </p:sp>
      <p:sp>
        <p:nvSpPr>
          <p:cNvPr id="8" name="Text 5"/>
          <p:cNvSpPr/>
          <p:nvPr/>
        </p:nvSpPr>
        <p:spPr>
          <a:xfrm>
            <a:off x="1463040" y="4407408"/>
            <a:ext cx="1554480" cy="292608"/>
          </a:xfrm>
          <a:prstGeom prst="rect">
            <a:avLst/>
          </a:prstGeom>
          <a:noFill/>
          <a:ln/>
        </p:spPr>
        <p:txBody>
          <a:bodyPr wrap="square" lIns="0" tIns="0" rIns="0" bIns="0" rtlCol="0" anchor="ctr"/>
          <a:lstStyle/>
          <a:p>
            <a:pPr marL="0" indent="0">
              <a:buNone/>
            </a:pPr>
            <a:r>
              <a:rPr lang="en-US" sz="900" dirty="0">
                <a:solidFill>
                  <a:srgbClr val="6B7B8D"/>
                </a:solidFill>
                <a:latin typeface="Calibri" pitchFamily="34" charset="0"/>
                <a:ea typeface="Calibri" pitchFamily="34" charset="-122"/>
                <a:cs typeface="Calibri" pitchFamily="34" charset="-120"/>
              </a:rPr>
              <a:t>vs normal demand</a:t>
            </a:r>
            <a:endParaRPr lang="en-US" sz="900" dirty="0"/>
          </a:p>
        </p:txBody>
      </p:sp>
      <p:sp>
        <p:nvSpPr>
          <p:cNvPr id="9" name="Shape 6"/>
          <p:cNvSpPr/>
          <p:nvPr/>
        </p:nvSpPr>
        <p:spPr>
          <a:xfrm>
            <a:off x="3337560" y="4352544"/>
            <a:ext cx="2834640" cy="594360"/>
          </a:xfrm>
          <a:prstGeom prst="roundRect">
            <a:avLst>
              <a:gd name="adj" fmla="val 12308"/>
            </a:avLst>
          </a:prstGeom>
          <a:solidFill>
            <a:srgbClr val="FFFFFF"/>
          </a:solidFill>
          <a:ln w="12700">
            <a:solidFill>
              <a:srgbClr val="FFFFFF"/>
            </a:solidFill>
            <a:prstDash val="solid"/>
          </a:ln>
          <a:effectLst>
            <a:outerShdw blurRad="101600" dist="38100" dir="2700000" algn="bl" rotWithShape="0">
              <a:srgbClr val="000000">
                <a:alpha val="12000"/>
              </a:srgbClr>
            </a:outerShdw>
          </a:effectLst>
        </p:spPr>
      </p:sp>
      <p:sp>
        <p:nvSpPr>
          <p:cNvPr id="10" name="Text 7"/>
          <p:cNvSpPr/>
          <p:nvPr/>
        </p:nvSpPr>
        <p:spPr>
          <a:xfrm>
            <a:off x="3474720" y="4389120"/>
            <a:ext cx="1005840" cy="320040"/>
          </a:xfrm>
          <a:prstGeom prst="rect">
            <a:avLst/>
          </a:prstGeom>
          <a:noFill/>
          <a:ln/>
        </p:spPr>
        <p:txBody>
          <a:bodyPr wrap="square" lIns="0" tIns="0" rIns="0" bIns="0" rtlCol="0" anchor="ctr"/>
          <a:lstStyle/>
          <a:p>
            <a:pPr marL="0" indent="0">
              <a:buNone/>
            </a:pPr>
            <a:r>
              <a:rPr lang="en-US" sz="1600" b="1" dirty="0">
                <a:solidFill>
                  <a:srgbClr val="0D1B2A"/>
                </a:solidFill>
                <a:latin typeface="Cambria" pitchFamily="34" charset="0"/>
                <a:ea typeface="Cambria" pitchFamily="34" charset="-122"/>
                <a:cs typeface="Cambria" pitchFamily="34" charset="-120"/>
              </a:rPr>
              <a:t>15-20%</a:t>
            </a:r>
            <a:endParaRPr lang="en-US" sz="1600" dirty="0"/>
          </a:p>
        </p:txBody>
      </p:sp>
      <p:sp>
        <p:nvSpPr>
          <p:cNvPr id="11" name="Text 8"/>
          <p:cNvSpPr/>
          <p:nvPr/>
        </p:nvSpPr>
        <p:spPr>
          <a:xfrm>
            <a:off x="3474720" y="4681728"/>
            <a:ext cx="2560320" cy="219456"/>
          </a:xfrm>
          <a:prstGeom prst="rect">
            <a:avLst/>
          </a:prstGeom>
          <a:noFill/>
          <a:ln/>
        </p:spPr>
        <p:txBody>
          <a:bodyPr wrap="square" lIns="0" tIns="0" rIns="0" bIns="0" rtlCol="0" anchor="ctr"/>
          <a:lstStyle/>
          <a:p>
            <a:pPr marL="0" indent="0">
              <a:buNone/>
            </a:pPr>
            <a:r>
              <a:rPr lang="en-US" sz="850" b="1" dirty="0">
                <a:solidFill>
                  <a:srgbClr val="0B6E4F"/>
                </a:solidFill>
                <a:latin typeface="Calibri" pitchFamily="34" charset="0"/>
                <a:ea typeface="Calibri" pitchFamily="34" charset="-122"/>
                <a:cs typeface="Calibri" pitchFamily="34" charset="-120"/>
              </a:rPr>
              <a:t>Inflation Impact</a:t>
            </a:r>
            <a:endParaRPr lang="en-US" sz="850" dirty="0"/>
          </a:p>
        </p:txBody>
      </p:sp>
      <p:sp>
        <p:nvSpPr>
          <p:cNvPr id="12" name="Text 9"/>
          <p:cNvSpPr/>
          <p:nvPr/>
        </p:nvSpPr>
        <p:spPr>
          <a:xfrm>
            <a:off x="4526280" y="4407408"/>
            <a:ext cx="1554480" cy="292608"/>
          </a:xfrm>
          <a:prstGeom prst="rect">
            <a:avLst/>
          </a:prstGeom>
          <a:noFill/>
          <a:ln/>
        </p:spPr>
        <p:txBody>
          <a:bodyPr wrap="square" lIns="0" tIns="0" rIns="0" bIns="0" rtlCol="0" anchor="ctr"/>
          <a:lstStyle/>
          <a:p>
            <a:pPr marL="0" indent="0">
              <a:buNone/>
            </a:pPr>
            <a:r>
              <a:rPr lang="en-US" sz="900" dirty="0">
                <a:solidFill>
                  <a:srgbClr val="6B7B8D"/>
                </a:solidFill>
                <a:latin typeface="Calibri" pitchFamily="34" charset="0"/>
                <a:ea typeface="Calibri" pitchFamily="34" charset="-122"/>
                <a:cs typeface="Calibri" pitchFamily="34" charset="-120"/>
              </a:rPr>
              <a:t>demand reduction across categories</a:t>
            </a:r>
            <a:endParaRPr lang="en-US" sz="900" dirty="0"/>
          </a:p>
        </p:txBody>
      </p:sp>
      <p:sp>
        <p:nvSpPr>
          <p:cNvPr id="13" name="Shape 10"/>
          <p:cNvSpPr/>
          <p:nvPr/>
        </p:nvSpPr>
        <p:spPr>
          <a:xfrm>
            <a:off x="6400800" y="4352544"/>
            <a:ext cx="2834640" cy="594360"/>
          </a:xfrm>
          <a:prstGeom prst="roundRect">
            <a:avLst>
              <a:gd name="adj" fmla="val 12308"/>
            </a:avLst>
          </a:prstGeom>
          <a:solidFill>
            <a:srgbClr val="FFFFFF"/>
          </a:solidFill>
          <a:ln w="12700">
            <a:solidFill>
              <a:srgbClr val="FFFFFF"/>
            </a:solidFill>
            <a:prstDash val="solid"/>
          </a:ln>
          <a:effectLst>
            <a:outerShdw blurRad="101600" dist="38100" dir="2700000" algn="bl" rotWithShape="0">
              <a:srgbClr val="000000">
                <a:alpha val="12000"/>
              </a:srgbClr>
            </a:outerShdw>
          </a:effectLst>
        </p:spPr>
      </p:sp>
      <p:sp>
        <p:nvSpPr>
          <p:cNvPr id="14" name="Text 11"/>
          <p:cNvSpPr/>
          <p:nvPr/>
        </p:nvSpPr>
        <p:spPr>
          <a:xfrm>
            <a:off x="6537960" y="4407408"/>
            <a:ext cx="1005840" cy="301752"/>
          </a:xfrm>
          <a:prstGeom prst="rect">
            <a:avLst/>
          </a:prstGeom>
          <a:noFill/>
          <a:ln/>
        </p:spPr>
        <p:txBody>
          <a:bodyPr wrap="square" lIns="0" tIns="0" rIns="0" bIns="0" rtlCol="0" anchor="ctr"/>
          <a:lstStyle/>
          <a:p>
            <a:pPr marL="0" indent="0">
              <a:buNone/>
            </a:pPr>
            <a:r>
              <a:rPr lang="en-US" sz="1600" b="1" dirty="0">
                <a:solidFill>
                  <a:srgbClr val="0D1B2A"/>
                </a:solidFill>
                <a:latin typeface="Cambria" pitchFamily="34" charset="0"/>
                <a:ea typeface="Cambria" pitchFamily="34" charset="-122"/>
                <a:cs typeface="Cambria" pitchFamily="34" charset="-120"/>
              </a:rPr>
              <a:t>50 units/day</a:t>
            </a:r>
            <a:endParaRPr lang="en-US" sz="1600" dirty="0"/>
          </a:p>
        </p:txBody>
      </p:sp>
      <p:sp>
        <p:nvSpPr>
          <p:cNvPr id="15" name="Text 12"/>
          <p:cNvSpPr/>
          <p:nvPr/>
        </p:nvSpPr>
        <p:spPr>
          <a:xfrm>
            <a:off x="6537960" y="4681728"/>
            <a:ext cx="2560320" cy="219456"/>
          </a:xfrm>
          <a:prstGeom prst="rect">
            <a:avLst/>
          </a:prstGeom>
          <a:noFill/>
          <a:ln/>
        </p:spPr>
        <p:txBody>
          <a:bodyPr wrap="square" lIns="0" tIns="0" rIns="0" bIns="0" rtlCol="0" anchor="ctr"/>
          <a:lstStyle/>
          <a:p>
            <a:pPr marL="0" indent="0">
              <a:buNone/>
            </a:pPr>
            <a:r>
              <a:rPr lang="en-US" sz="850" b="1" dirty="0">
                <a:solidFill>
                  <a:srgbClr val="0B6E4F"/>
                </a:solidFill>
                <a:latin typeface="Calibri" pitchFamily="34" charset="0"/>
                <a:ea typeface="Calibri" pitchFamily="34" charset="-122"/>
                <a:cs typeface="Calibri" pitchFamily="34" charset="-120"/>
              </a:rPr>
              <a:t>Bakery Peak</a:t>
            </a:r>
            <a:endParaRPr lang="en-US" sz="850" dirty="0"/>
          </a:p>
        </p:txBody>
      </p:sp>
      <p:sp>
        <p:nvSpPr>
          <p:cNvPr id="16" name="Text 13"/>
          <p:cNvSpPr/>
          <p:nvPr/>
        </p:nvSpPr>
        <p:spPr>
          <a:xfrm>
            <a:off x="7589520" y="4407408"/>
            <a:ext cx="1554480" cy="292608"/>
          </a:xfrm>
          <a:prstGeom prst="rect">
            <a:avLst/>
          </a:prstGeom>
          <a:noFill/>
          <a:ln/>
        </p:spPr>
        <p:txBody>
          <a:bodyPr wrap="square" lIns="0" tIns="0" rIns="0" bIns="0" rtlCol="0" anchor="ctr"/>
          <a:lstStyle/>
          <a:p>
            <a:pPr marL="0" indent="0">
              <a:buNone/>
            </a:pPr>
            <a:r>
              <a:rPr lang="en-US" sz="900" dirty="0">
                <a:solidFill>
                  <a:srgbClr val="6B7B8D"/>
                </a:solidFill>
                <a:latin typeface="Calibri" pitchFamily="34" charset="0"/>
                <a:ea typeface="Calibri" pitchFamily="34" charset="-122"/>
                <a:cs typeface="Calibri" pitchFamily="34" charset="-120"/>
              </a:rPr>
              <a:t>highest festive category</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C0392B"/>
          </a:solidFill>
          <a:ln w="12700">
            <a:solidFill>
              <a:srgbClr val="C0392B"/>
            </a:solidFill>
            <a:prstDash val="solid"/>
          </a:ln>
        </p:spPr>
      </p:sp>
      <p:sp>
        <p:nvSpPr>
          <p:cNvPr id="3" name="Text 1"/>
          <p:cNvSpPr/>
          <p:nvPr/>
        </p:nvSpPr>
        <p:spPr>
          <a:xfrm>
            <a:off x="457200" y="13716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Inventory Risk: Stockout Analysis</a:t>
            </a:r>
            <a:endParaRPr lang="en-US" sz="2600" dirty="0"/>
          </a:p>
        </p:txBody>
      </p:sp>
      <p:pic>
        <p:nvPicPr>
          <p:cNvPr id="5" name="Image 0" descr="preencoded.png"/>
          <p:cNvPicPr>
            <a:picLocks noChangeAspect="1"/>
          </p:cNvPicPr>
          <p:nvPr/>
        </p:nvPicPr>
        <p:blipFill>
          <a:blip r:embed="rId3"/>
          <a:stretch>
            <a:fillRect/>
          </a:stretch>
        </p:blipFill>
        <p:spPr>
          <a:xfrm>
            <a:off x="274320" y="1005840"/>
            <a:ext cx="8595360" cy="2926080"/>
          </a:xfrm>
          <a:prstGeom prst="rect">
            <a:avLst/>
          </a:prstGeom>
        </p:spPr>
      </p:pic>
      <p:sp>
        <p:nvSpPr>
          <p:cNvPr id="6" name="Shape 3"/>
          <p:cNvSpPr/>
          <p:nvPr/>
        </p:nvSpPr>
        <p:spPr>
          <a:xfrm>
            <a:off x="274320" y="4041648"/>
            <a:ext cx="8595360" cy="868680"/>
          </a:xfrm>
          <a:prstGeom prst="roundRect">
            <a:avLst>
              <a:gd name="adj" fmla="val 8421"/>
            </a:avLst>
          </a:prstGeom>
          <a:solidFill>
            <a:srgbClr val="EEF2F6"/>
          </a:solidFill>
          <a:ln w="12700">
            <a:solidFill>
              <a:srgbClr val="EEF2F6"/>
            </a:solidFill>
            <a:prstDash val="solid"/>
          </a:ln>
          <a:effectLst>
            <a:outerShdw blurRad="101600" dist="38100" dir="2700000" algn="bl" rotWithShape="0">
              <a:srgbClr val="000000">
                <a:alpha val="12000"/>
              </a:srgbClr>
            </a:outerShdw>
          </a:effectLst>
        </p:spPr>
      </p:sp>
      <p:sp>
        <p:nvSpPr>
          <p:cNvPr id="7" name="Text 4"/>
          <p:cNvSpPr/>
          <p:nvPr/>
        </p:nvSpPr>
        <p:spPr>
          <a:xfrm>
            <a:off x="457200" y="4114800"/>
            <a:ext cx="1920240" cy="457200"/>
          </a:xfrm>
          <a:prstGeom prst="rect">
            <a:avLst/>
          </a:prstGeom>
          <a:noFill/>
          <a:ln/>
        </p:spPr>
        <p:txBody>
          <a:bodyPr wrap="square" lIns="0" tIns="0" rIns="0" bIns="0" rtlCol="0" anchor="ctr"/>
          <a:lstStyle/>
          <a:p>
            <a:pPr marL="0" indent="0">
              <a:buNone/>
            </a:pPr>
            <a:r>
              <a:rPr lang="en-US" sz="3000" b="1" dirty="0">
                <a:solidFill>
                  <a:srgbClr val="C0392B"/>
                </a:solidFill>
                <a:latin typeface="Cambria" pitchFamily="34" charset="0"/>
                <a:ea typeface="Cambria" pitchFamily="34" charset="-122"/>
                <a:cs typeface="Cambria" pitchFamily="34" charset="-120"/>
              </a:rPr>
              <a:t>19,262</a:t>
            </a:r>
            <a:endParaRPr lang="en-US" sz="3000" dirty="0"/>
          </a:p>
        </p:txBody>
      </p:sp>
      <p:sp>
        <p:nvSpPr>
          <p:cNvPr id="8" name="Text 5"/>
          <p:cNvSpPr/>
          <p:nvPr/>
        </p:nvSpPr>
        <p:spPr>
          <a:xfrm>
            <a:off x="2468880" y="4114800"/>
            <a:ext cx="6217920" cy="68580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Total stockout events recorded across all 7 stores and all 20 products over 18 months. Every product in the assortment experienced at least one stockout, and stockout rates range from 24% to 26% across the network, indicating a system-wide inventory planning gap rather than isolated product issues.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6D4C41"/>
          </a:solidFill>
          <a:ln w="12700">
            <a:solidFill>
              <a:srgbClr val="6D4C41"/>
            </a:solidFill>
            <a:prstDash val="solid"/>
          </a:ln>
        </p:spPr>
      </p:sp>
      <p:sp>
        <p:nvSpPr>
          <p:cNvPr id="3" name="Text 1"/>
          <p:cNvSpPr/>
          <p:nvPr/>
        </p:nvSpPr>
        <p:spPr>
          <a:xfrm>
            <a:off x="457200" y="13716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Supplier Performance Assessment</a:t>
            </a:r>
            <a:endParaRPr lang="en-US" sz="2600" dirty="0"/>
          </a:p>
        </p:txBody>
      </p:sp>
      <p:pic>
        <p:nvPicPr>
          <p:cNvPr id="5" name="Image 0" descr="preencoded.png"/>
          <p:cNvPicPr>
            <a:picLocks noChangeAspect="1"/>
          </p:cNvPicPr>
          <p:nvPr/>
        </p:nvPicPr>
        <p:blipFill>
          <a:blip r:embed="rId3"/>
          <a:stretch>
            <a:fillRect/>
          </a:stretch>
        </p:blipFill>
        <p:spPr>
          <a:xfrm>
            <a:off x="274320" y="1005840"/>
            <a:ext cx="8595360" cy="3017520"/>
          </a:xfrm>
          <a:prstGeom prst="rect">
            <a:avLst/>
          </a:prstGeom>
        </p:spPr>
      </p:pic>
      <p:sp>
        <p:nvSpPr>
          <p:cNvPr id="6" name="Shape 3"/>
          <p:cNvSpPr/>
          <p:nvPr/>
        </p:nvSpPr>
        <p:spPr>
          <a:xfrm>
            <a:off x="274320" y="4160520"/>
            <a:ext cx="2743200" cy="777240"/>
          </a:xfrm>
          <a:prstGeom prst="roundRect">
            <a:avLst>
              <a:gd name="adj" fmla="val 9412"/>
            </a:avLst>
          </a:prstGeom>
          <a:solidFill>
            <a:srgbClr val="FFFFFF"/>
          </a:solidFill>
          <a:ln w="12700">
            <a:solidFill>
              <a:srgbClr val="FFFFFF"/>
            </a:solidFill>
            <a:prstDash val="solid"/>
          </a:ln>
          <a:effectLst>
            <a:outerShdw blurRad="101600" dist="38100" dir="2700000" algn="bl" rotWithShape="0">
              <a:srgbClr val="000000">
                <a:alpha val="12000"/>
              </a:srgbClr>
            </a:outerShdw>
          </a:effectLst>
        </p:spPr>
      </p:sp>
      <p:sp>
        <p:nvSpPr>
          <p:cNvPr id="7" name="Text 4"/>
          <p:cNvSpPr/>
          <p:nvPr/>
        </p:nvSpPr>
        <p:spPr>
          <a:xfrm>
            <a:off x="411480" y="4206240"/>
            <a:ext cx="2514600" cy="365760"/>
          </a:xfrm>
          <a:prstGeom prst="rect">
            <a:avLst/>
          </a:prstGeom>
          <a:noFill/>
          <a:ln/>
        </p:spPr>
        <p:txBody>
          <a:bodyPr wrap="square" lIns="0" tIns="0" rIns="0" bIns="0" rtlCol="0" anchor="ctr"/>
          <a:lstStyle/>
          <a:p>
            <a:pPr marL="0" indent="0">
              <a:buNone/>
            </a:pPr>
            <a:r>
              <a:rPr lang="en-US" sz="2200" b="1" dirty="0">
                <a:solidFill>
                  <a:srgbClr val="6D4C41"/>
                </a:solidFill>
                <a:latin typeface="Cambria" pitchFamily="34" charset="0"/>
                <a:ea typeface="Cambria" pitchFamily="34" charset="-122"/>
                <a:cs typeface="Cambria" pitchFamily="34" charset="-120"/>
              </a:rPr>
              <a:t>86.1%</a:t>
            </a:r>
            <a:endParaRPr lang="en-US" sz="2200" dirty="0"/>
          </a:p>
        </p:txBody>
      </p:sp>
      <p:sp>
        <p:nvSpPr>
          <p:cNvPr id="8" name="Text 5"/>
          <p:cNvSpPr/>
          <p:nvPr/>
        </p:nvSpPr>
        <p:spPr>
          <a:xfrm>
            <a:off x="411480" y="4553712"/>
            <a:ext cx="2514600" cy="320040"/>
          </a:xfrm>
          <a:prstGeom prst="rect">
            <a:avLst/>
          </a:prstGeom>
          <a:noFill/>
          <a:ln/>
        </p:spPr>
        <p:txBody>
          <a:bodyPr wrap="square" lIns="0" tIns="0" rIns="0" bIns="0" rtlCol="0" anchor="ctr"/>
          <a:lstStyle/>
          <a:p>
            <a:pPr marL="0" indent="0">
              <a:buNone/>
            </a:pPr>
            <a:r>
              <a:rPr lang="en-US" sz="950" dirty="0">
                <a:solidFill>
                  <a:srgbClr val="6B7B8D"/>
                </a:solidFill>
                <a:latin typeface="Calibri" pitchFamily="34" charset="0"/>
                <a:ea typeface="Calibri" pitchFamily="34" charset="-122"/>
                <a:cs typeface="Calibri" pitchFamily="34" charset="-120"/>
              </a:rPr>
              <a:t>of all deliveries</a:t>
            </a:r>
            <a:endParaRPr lang="en-US" sz="950" dirty="0"/>
          </a:p>
          <a:p>
            <a:pPr marL="0" indent="0">
              <a:buNone/>
            </a:pPr>
            <a:r>
              <a:rPr lang="en-US" sz="950" dirty="0">
                <a:solidFill>
                  <a:srgbClr val="6B7B8D"/>
                </a:solidFill>
                <a:latin typeface="Calibri" pitchFamily="34" charset="0"/>
                <a:ea typeface="Calibri" pitchFamily="34" charset="-122"/>
                <a:cs typeface="Calibri" pitchFamily="34" charset="-120"/>
              </a:rPr>
              <a:t>experienced some delay</a:t>
            </a:r>
            <a:endParaRPr lang="en-US" sz="950" dirty="0"/>
          </a:p>
        </p:txBody>
      </p:sp>
      <p:sp>
        <p:nvSpPr>
          <p:cNvPr id="9" name="Shape 6"/>
          <p:cNvSpPr/>
          <p:nvPr/>
        </p:nvSpPr>
        <p:spPr>
          <a:xfrm>
            <a:off x="3200400" y="4160520"/>
            <a:ext cx="2743200" cy="777240"/>
          </a:xfrm>
          <a:prstGeom prst="roundRect">
            <a:avLst>
              <a:gd name="adj" fmla="val 9412"/>
            </a:avLst>
          </a:prstGeom>
          <a:solidFill>
            <a:srgbClr val="FFFFFF"/>
          </a:solidFill>
          <a:ln w="12700">
            <a:solidFill>
              <a:srgbClr val="FFFFFF"/>
            </a:solidFill>
            <a:prstDash val="solid"/>
          </a:ln>
          <a:effectLst>
            <a:outerShdw blurRad="101600" dist="38100" dir="2700000" algn="bl" rotWithShape="0">
              <a:srgbClr val="000000">
                <a:alpha val="12000"/>
              </a:srgbClr>
            </a:outerShdw>
          </a:effectLst>
        </p:spPr>
      </p:sp>
      <p:sp>
        <p:nvSpPr>
          <p:cNvPr id="10" name="Text 7"/>
          <p:cNvSpPr/>
          <p:nvPr/>
        </p:nvSpPr>
        <p:spPr>
          <a:xfrm>
            <a:off x="3337560" y="4206240"/>
            <a:ext cx="2514600" cy="365760"/>
          </a:xfrm>
          <a:prstGeom prst="rect">
            <a:avLst/>
          </a:prstGeom>
          <a:noFill/>
          <a:ln/>
        </p:spPr>
        <p:txBody>
          <a:bodyPr wrap="square" lIns="0" tIns="0" rIns="0" bIns="0" rtlCol="0" anchor="ctr"/>
          <a:lstStyle/>
          <a:p>
            <a:pPr marL="0" indent="0">
              <a:buNone/>
            </a:pPr>
            <a:r>
              <a:rPr lang="en-US" sz="2200" b="1" dirty="0">
                <a:solidFill>
                  <a:srgbClr val="6D4C41"/>
                </a:solidFill>
                <a:latin typeface="Cambria" pitchFamily="34" charset="0"/>
                <a:ea typeface="Cambria" pitchFamily="34" charset="-122"/>
                <a:cs typeface="Cambria" pitchFamily="34" charset="-120"/>
              </a:rPr>
              <a:t>4 days</a:t>
            </a:r>
            <a:endParaRPr lang="en-US" sz="2200" dirty="0"/>
          </a:p>
        </p:txBody>
      </p:sp>
      <p:sp>
        <p:nvSpPr>
          <p:cNvPr id="11" name="Text 8"/>
          <p:cNvSpPr/>
          <p:nvPr/>
        </p:nvSpPr>
        <p:spPr>
          <a:xfrm>
            <a:off x="3337560" y="4553712"/>
            <a:ext cx="2514600" cy="320040"/>
          </a:xfrm>
          <a:prstGeom prst="rect">
            <a:avLst/>
          </a:prstGeom>
          <a:noFill/>
          <a:ln/>
        </p:spPr>
        <p:txBody>
          <a:bodyPr wrap="square" lIns="0" tIns="0" rIns="0" bIns="0" rtlCol="0" anchor="ctr"/>
          <a:lstStyle/>
          <a:p>
            <a:pPr marL="0" indent="0">
              <a:buNone/>
            </a:pPr>
            <a:r>
              <a:rPr lang="en-US" sz="950" dirty="0">
                <a:solidFill>
                  <a:srgbClr val="6B7B8D"/>
                </a:solidFill>
                <a:latin typeface="Calibri" pitchFamily="34" charset="0"/>
                <a:ea typeface="Calibri" pitchFamily="34" charset="-122"/>
                <a:cs typeface="Calibri" pitchFamily="34" charset="-120"/>
              </a:rPr>
              <a:t>average delay</a:t>
            </a:r>
            <a:endParaRPr lang="en-US" sz="950" dirty="0"/>
          </a:p>
          <a:p>
            <a:pPr marL="0" indent="0">
              <a:buNone/>
            </a:pPr>
            <a:r>
              <a:rPr lang="en-US" sz="950" dirty="0">
                <a:solidFill>
                  <a:srgbClr val="6B7B8D"/>
                </a:solidFill>
                <a:latin typeface="Calibri" pitchFamily="34" charset="0"/>
                <a:ea typeface="Calibri" pitchFamily="34" charset="-122"/>
                <a:cs typeface="Calibri" pitchFamily="34" charset="-120"/>
              </a:rPr>
              <a:t>across all suppliers</a:t>
            </a:r>
            <a:endParaRPr lang="en-US" sz="950" dirty="0"/>
          </a:p>
        </p:txBody>
      </p:sp>
      <p:sp>
        <p:nvSpPr>
          <p:cNvPr id="12" name="Shape 9"/>
          <p:cNvSpPr/>
          <p:nvPr/>
        </p:nvSpPr>
        <p:spPr>
          <a:xfrm>
            <a:off x="6126480" y="4160520"/>
            <a:ext cx="2743200" cy="777240"/>
          </a:xfrm>
          <a:prstGeom prst="roundRect">
            <a:avLst>
              <a:gd name="adj" fmla="val 9412"/>
            </a:avLst>
          </a:prstGeom>
          <a:solidFill>
            <a:srgbClr val="FFFFFF"/>
          </a:solidFill>
          <a:ln w="12700">
            <a:solidFill>
              <a:srgbClr val="FFFFFF"/>
            </a:solidFill>
            <a:prstDash val="solid"/>
          </a:ln>
          <a:effectLst>
            <a:outerShdw blurRad="101600" dist="38100" dir="2700000" algn="bl" rotWithShape="0">
              <a:srgbClr val="000000">
                <a:alpha val="12000"/>
              </a:srgbClr>
            </a:outerShdw>
          </a:effectLst>
        </p:spPr>
      </p:sp>
      <p:sp>
        <p:nvSpPr>
          <p:cNvPr id="13" name="Text 10"/>
          <p:cNvSpPr/>
          <p:nvPr/>
        </p:nvSpPr>
        <p:spPr>
          <a:xfrm>
            <a:off x="6263640" y="4206240"/>
            <a:ext cx="2514600" cy="365760"/>
          </a:xfrm>
          <a:prstGeom prst="rect">
            <a:avLst/>
          </a:prstGeom>
          <a:noFill/>
          <a:ln/>
        </p:spPr>
        <p:txBody>
          <a:bodyPr wrap="square" lIns="0" tIns="0" rIns="0" bIns="0" rtlCol="0" anchor="ctr"/>
          <a:lstStyle/>
          <a:p>
            <a:pPr marL="0" indent="0">
              <a:buNone/>
            </a:pPr>
            <a:r>
              <a:rPr lang="en-US" sz="2200" b="1" dirty="0">
                <a:solidFill>
                  <a:srgbClr val="6D4C41"/>
                </a:solidFill>
                <a:latin typeface="Cambria" pitchFamily="34" charset="0"/>
                <a:ea typeface="Cambria" pitchFamily="34" charset="-122"/>
                <a:cs typeface="Cambria" pitchFamily="34" charset="-120"/>
              </a:rPr>
              <a:t>51%</a:t>
            </a:r>
            <a:endParaRPr lang="en-US" sz="2200" dirty="0"/>
          </a:p>
        </p:txBody>
      </p:sp>
      <p:sp>
        <p:nvSpPr>
          <p:cNvPr id="14" name="Text 11"/>
          <p:cNvSpPr/>
          <p:nvPr/>
        </p:nvSpPr>
        <p:spPr>
          <a:xfrm>
            <a:off x="6263640" y="4553712"/>
            <a:ext cx="2514600" cy="320040"/>
          </a:xfrm>
          <a:prstGeom prst="rect">
            <a:avLst/>
          </a:prstGeom>
          <a:noFill/>
          <a:ln/>
        </p:spPr>
        <p:txBody>
          <a:bodyPr wrap="square" lIns="0" tIns="0" rIns="0" bIns="0" rtlCol="0" anchor="ctr"/>
          <a:lstStyle/>
          <a:p>
            <a:pPr marL="0" indent="0">
              <a:buNone/>
            </a:pPr>
            <a:r>
              <a:rPr lang="en-US" sz="950" dirty="0">
                <a:solidFill>
                  <a:srgbClr val="6B7B8D"/>
                </a:solidFill>
                <a:latin typeface="Calibri" pitchFamily="34" charset="0"/>
                <a:ea typeface="Calibri" pitchFamily="34" charset="-122"/>
                <a:cs typeface="Calibri" pitchFamily="34" charset="-120"/>
              </a:rPr>
              <a:t>lowest on-time rate</a:t>
            </a:r>
            <a:endParaRPr lang="en-US" sz="950" dirty="0"/>
          </a:p>
          <a:p>
            <a:pPr marL="0" indent="0">
              <a:buNone/>
            </a:pPr>
            <a:r>
              <a:rPr lang="en-US" sz="950" dirty="0">
                <a:solidFill>
                  <a:srgbClr val="6B7B8D"/>
                </a:solidFill>
                <a:latin typeface="Calibri" pitchFamily="34" charset="0"/>
                <a:ea typeface="Calibri" pitchFamily="34" charset="-122"/>
                <a:cs typeface="Calibri" pitchFamily="34" charset="-120"/>
              </a:rPr>
              <a:t>(Naija Frozen &amp; Ibadan)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4A148C"/>
          </a:solidFill>
          <a:ln w="12700">
            <a:solidFill>
              <a:srgbClr val="4A148C"/>
            </a:solidFill>
            <a:prstDash val="solid"/>
          </a:ln>
        </p:spPr>
      </p:sp>
      <p:sp>
        <p:nvSpPr>
          <p:cNvPr id="3" name="Text 1"/>
          <p:cNvSpPr/>
          <p:nvPr/>
        </p:nvSpPr>
        <p:spPr>
          <a:xfrm>
            <a:off x="457200" y="13716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ABC / XYZ Product Segmentation</a:t>
            </a:r>
            <a:endParaRPr lang="en-US" sz="2600" dirty="0"/>
          </a:p>
        </p:txBody>
      </p:sp>
      <p:pic>
        <p:nvPicPr>
          <p:cNvPr id="4" name="Image 0" descr="preencoded.png"/>
          <p:cNvPicPr>
            <a:picLocks noChangeAspect="1"/>
          </p:cNvPicPr>
          <p:nvPr/>
        </p:nvPicPr>
        <p:blipFill>
          <a:blip r:embed="rId3"/>
          <a:stretch>
            <a:fillRect/>
          </a:stretch>
        </p:blipFill>
        <p:spPr>
          <a:xfrm>
            <a:off x="274320" y="1005840"/>
            <a:ext cx="8595360" cy="3246120"/>
          </a:xfrm>
          <a:prstGeom prst="rect">
            <a:avLst/>
          </a:prstGeom>
        </p:spPr>
      </p:pic>
      <p:sp>
        <p:nvSpPr>
          <p:cNvPr id="5" name="Shape 2"/>
          <p:cNvSpPr/>
          <p:nvPr/>
        </p:nvSpPr>
        <p:spPr>
          <a:xfrm>
            <a:off x="274320" y="4389120"/>
            <a:ext cx="2834640" cy="548640"/>
          </a:xfrm>
          <a:prstGeom prst="roundRect">
            <a:avLst>
              <a:gd name="adj" fmla="val 13333"/>
            </a:avLst>
          </a:prstGeom>
          <a:solidFill>
            <a:srgbClr val="EEF2F6"/>
          </a:solidFill>
          <a:ln w="12700">
            <a:solidFill>
              <a:srgbClr val="EEF2F6"/>
            </a:solidFill>
            <a:prstDash val="solid"/>
          </a:ln>
          <a:effectLst>
            <a:outerShdw blurRad="101600" dist="38100" dir="2700000" algn="bl" rotWithShape="0">
              <a:srgbClr val="000000">
                <a:alpha val="12000"/>
              </a:srgbClr>
            </a:outerShdw>
          </a:effectLst>
        </p:spPr>
      </p:sp>
      <p:sp>
        <p:nvSpPr>
          <p:cNvPr id="6" name="Text 3"/>
          <p:cNvSpPr/>
          <p:nvPr/>
        </p:nvSpPr>
        <p:spPr>
          <a:xfrm>
            <a:off x="411480" y="4434840"/>
            <a:ext cx="502920" cy="274320"/>
          </a:xfrm>
          <a:prstGeom prst="rect">
            <a:avLst/>
          </a:prstGeom>
          <a:noFill/>
          <a:ln/>
        </p:spPr>
        <p:txBody>
          <a:bodyPr wrap="square" lIns="0" tIns="0" rIns="0" bIns="0" rtlCol="0" anchor="ctr"/>
          <a:lstStyle/>
          <a:p>
            <a:pPr marL="0" indent="0">
              <a:buNone/>
            </a:pPr>
            <a:r>
              <a:rPr lang="en-US" sz="1400" b="1" dirty="0">
                <a:solidFill>
                  <a:srgbClr val="4A148C"/>
                </a:solidFill>
                <a:latin typeface="Cambria" pitchFamily="34" charset="0"/>
                <a:ea typeface="Cambria" pitchFamily="34" charset="-122"/>
                <a:cs typeface="Cambria" pitchFamily="34" charset="-120"/>
              </a:rPr>
              <a:t>AX  </a:t>
            </a:r>
            <a:endParaRPr lang="en-US" sz="1400" dirty="0"/>
          </a:p>
        </p:txBody>
      </p:sp>
      <p:sp>
        <p:nvSpPr>
          <p:cNvPr id="7" name="Text 4"/>
          <p:cNvSpPr/>
          <p:nvPr/>
        </p:nvSpPr>
        <p:spPr>
          <a:xfrm>
            <a:off x="868680" y="4462272"/>
            <a:ext cx="2103120" cy="384048"/>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High revenue, stable demand. Priority planning.</a:t>
            </a:r>
            <a:endParaRPr lang="en-US" sz="950" dirty="0"/>
          </a:p>
        </p:txBody>
      </p:sp>
      <p:sp>
        <p:nvSpPr>
          <p:cNvPr id="8" name="Shape 5"/>
          <p:cNvSpPr/>
          <p:nvPr/>
        </p:nvSpPr>
        <p:spPr>
          <a:xfrm>
            <a:off x="3337560" y="4389120"/>
            <a:ext cx="2834640" cy="548640"/>
          </a:xfrm>
          <a:prstGeom prst="roundRect">
            <a:avLst>
              <a:gd name="adj" fmla="val 13333"/>
            </a:avLst>
          </a:prstGeom>
          <a:solidFill>
            <a:srgbClr val="EEF2F6"/>
          </a:solidFill>
          <a:ln w="12700">
            <a:solidFill>
              <a:srgbClr val="EEF2F6"/>
            </a:solidFill>
            <a:prstDash val="solid"/>
          </a:ln>
          <a:effectLst>
            <a:outerShdw blurRad="101600" dist="38100" dir="2700000" algn="bl" rotWithShape="0">
              <a:srgbClr val="000000">
                <a:alpha val="12000"/>
              </a:srgbClr>
            </a:outerShdw>
          </a:effectLst>
        </p:spPr>
      </p:sp>
      <p:sp>
        <p:nvSpPr>
          <p:cNvPr id="9" name="Text 6"/>
          <p:cNvSpPr/>
          <p:nvPr/>
        </p:nvSpPr>
        <p:spPr>
          <a:xfrm>
            <a:off x="3474720" y="4434840"/>
            <a:ext cx="502920" cy="274320"/>
          </a:xfrm>
          <a:prstGeom prst="rect">
            <a:avLst/>
          </a:prstGeom>
          <a:noFill/>
          <a:ln/>
        </p:spPr>
        <p:txBody>
          <a:bodyPr wrap="square" lIns="0" tIns="0" rIns="0" bIns="0" rtlCol="0" anchor="ctr"/>
          <a:lstStyle/>
          <a:p>
            <a:pPr marL="0" indent="0">
              <a:buNone/>
            </a:pPr>
            <a:r>
              <a:rPr lang="en-US" sz="1400" b="1" dirty="0">
                <a:solidFill>
                  <a:srgbClr val="4A148C"/>
                </a:solidFill>
                <a:latin typeface="Cambria" pitchFamily="34" charset="0"/>
                <a:ea typeface="Cambria" pitchFamily="34" charset="-122"/>
                <a:cs typeface="Cambria" pitchFamily="34" charset="-120"/>
              </a:rPr>
              <a:t>AZ  </a:t>
            </a:r>
            <a:endParaRPr lang="en-US" sz="1400" dirty="0"/>
          </a:p>
        </p:txBody>
      </p:sp>
      <p:sp>
        <p:nvSpPr>
          <p:cNvPr id="10" name="Text 7"/>
          <p:cNvSpPr/>
          <p:nvPr/>
        </p:nvSpPr>
        <p:spPr>
          <a:xfrm>
            <a:off x="3931920" y="4462272"/>
            <a:ext cx="2103120" cy="384048"/>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High revenue, volatile demand. Needs safety stock.</a:t>
            </a:r>
            <a:endParaRPr lang="en-US" sz="950" dirty="0"/>
          </a:p>
        </p:txBody>
      </p:sp>
      <p:sp>
        <p:nvSpPr>
          <p:cNvPr id="11" name="Shape 8"/>
          <p:cNvSpPr/>
          <p:nvPr/>
        </p:nvSpPr>
        <p:spPr>
          <a:xfrm>
            <a:off x="6400800" y="4389120"/>
            <a:ext cx="2834640" cy="548640"/>
          </a:xfrm>
          <a:prstGeom prst="roundRect">
            <a:avLst>
              <a:gd name="adj" fmla="val 13333"/>
            </a:avLst>
          </a:prstGeom>
          <a:solidFill>
            <a:srgbClr val="EEF2F6"/>
          </a:solidFill>
          <a:ln w="12700">
            <a:solidFill>
              <a:srgbClr val="EEF2F6"/>
            </a:solidFill>
            <a:prstDash val="solid"/>
          </a:ln>
          <a:effectLst>
            <a:outerShdw blurRad="101600" dist="38100" dir="2700000" algn="bl" rotWithShape="0">
              <a:srgbClr val="000000">
                <a:alpha val="12000"/>
              </a:srgbClr>
            </a:outerShdw>
          </a:effectLst>
        </p:spPr>
      </p:sp>
      <p:sp>
        <p:nvSpPr>
          <p:cNvPr id="12" name="Text 9"/>
          <p:cNvSpPr/>
          <p:nvPr/>
        </p:nvSpPr>
        <p:spPr>
          <a:xfrm>
            <a:off x="6537960" y="4434840"/>
            <a:ext cx="502920" cy="274320"/>
          </a:xfrm>
          <a:prstGeom prst="rect">
            <a:avLst/>
          </a:prstGeom>
          <a:noFill/>
          <a:ln/>
        </p:spPr>
        <p:txBody>
          <a:bodyPr wrap="square" lIns="0" tIns="0" rIns="0" bIns="0" rtlCol="0" anchor="ctr"/>
          <a:lstStyle/>
          <a:p>
            <a:pPr marL="0" indent="0">
              <a:buNone/>
            </a:pPr>
            <a:r>
              <a:rPr lang="en-US" sz="1400" b="1" dirty="0">
                <a:solidFill>
                  <a:srgbClr val="4A148C"/>
                </a:solidFill>
                <a:latin typeface="Cambria" pitchFamily="34" charset="0"/>
                <a:ea typeface="Cambria" pitchFamily="34" charset="-122"/>
                <a:cs typeface="Cambria" pitchFamily="34" charset="-120"/>
              </a:rPr>
              <a:t>CZ  </a:t>
            </a:r>
            <a:endParaRPr lang="en-US" sz="1400" dirty="0"/>
          </a:p>
        </p:txBody>
      </p:sp>
      <p:sp>
        <p:nvSpPr>
          <p:cNvPr id="13" name="Text 10"/>
          <p:cNvSpPr/>
          <p:nvPr/>
        </p:nvSpPr>
        <p:spPr>
          <a:xfrm>
            <a:off x="6995160" y="4462272"/>
            <a:ext cx="2103120" cy="384048"/>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Low revenue, volatile. Monitor but deprioritise.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565C0"/>
          </a:solidFill>
          <a:ln w="12700">
            <a:solidFill>
              <a:srgbClr val="1565C0"/>
            </a:solidFill>
            <a:prstDash val="solid"/>
          </a:ln>
        </p:spPr>
      </p:sp>
      <p:sp>
        <p:nvSpPr>
          <p:cNvPr id="3" name="Text 1"/>
          <p:cNvSpPr/>
          <p:nvPr/>
        </p:nvSpPr>
        <p:spPr>
          <a:xfrm>
            <a:off x="457200" y="13716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Forecast Model Comparison (MAPE)</a:t>
            </a:r>
            <a:endParaRPr lang="en-US" sz="2600" dirty="0"/>
          </a:p>
        </p:txBody>
      </p:sp>
      <p:pic>
        <p:nvPicPr>
          <p:cNvPr id="4" name="Image 0" descr="preencoded.png"/>
          <p:cNvPicPr>
            <a:picLocks noChangeAspect="1"/>
          </p:cNvPicPr>
          <p:nvPr/>
        </p:nvPicPr>
        <p:blipFill>
          <a:blip r:embed="rId3"/>
          <a:stretch>
            <a:fillRect/>
          </a:stretch>
        </p:blipFill>
        <p:spPr>
          <a:xfrm>
            <a:off x="274320" y="1005840"/>
            <a:ext cx="8595360" cy="3017520"/>
          </a:xfrm>
          <a:prstGeom prst="rect">
            <a:avLst/>
          </a:prstGeom>
        </p:spPr>
      </p:pic>
      <p:sp>
        <p:nvSpPr>
          <p:cNvPr id="5" name="Shape 2"/>
          <p:cNvSpPr/>
          <p:nvPr/>
        </p:nvSpPr>
        <p:spPr>
          <a:xfrm>
            <a:off x="274320" y="4160520"/>
            <a:ext cx="2834640" cy="777240"/>
          </a:xfrm>
          <a:prstGeom prst="roundRect">
            <a:avLst>
              <a:gd name="adj" fmla="val 9412"/>
            </a:avLst>
          </a:prstGeom>
          <a:solidFill>
            <a:srgbClr val="FFFFFF"/>
          </a:solidFill>
          <a:ln w="12700">
            <a:solidFill>
              <a:srgbClr val="FFFFFF"/>
            </a:solidFill>
            <a:prstDash val="solid"/>
          </a:ln>
          <a:effectLst>
            <a:outerShdw blurRad="101600" dist="38100" dir="2700000" algn="bl" rotWithShape="0">
              <a:srgbClr val="000000">
                <a:alpha val="12000"/>
              </a:srgbClr>
            </a:outerShdw>
          </a:effectLst>
        </p:spPr>
      </p:sp>
      <p:sp>
        <p:nvSpPr>
          <p:cNvPr id="6" name="Text 3"/>
          <p:cNvSpPr/>
          <p:nvPr/>
        </p:nvSpPr>
        <p:spPr>
          <a:xfrm>
            <a:off x="411480" y="4206240"/>
            <a:ext cx="1828800" cy="256032"/>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WINNER</a:t>
            </a:r>
            <a:endParaRPr lang="en-US" sz="1000" dirty="0"/>
          </a:p>
        </p:txBody>
      </p:sp>
      <p:sp>
        <p:nvSpPr>
          <p:cNvPr id="7" name="Text 4"/>
          <p:cNvSpPr/>
          <p:nvPr/>
        </p:nvSpPr>
        <p:spPr>
          <a:xfrm>
            <a:off x="411480" y="4434840"/>
            <a:ext cx="2606040" cy="219456"/>
          </a:xfrm>
          <a:prstGeom prst="rect">
            <a:avLst/>
          </a:prstGeom>
          <a:noFill/>
          <a:ln/>
        </p:spPr>
        <p:txBody>
          <a:bodyPr wrap="square" lIns="0" tIns="0" rIns="0" bIns="0" rtlCol="0" anchor="ctr"/>
          <a:lstStyle/>
          <a:p>
            <a:pPr marL="0" indent="0">
              <a:buNone/>
            </a:pPr>
            <a:r>
              <a:rPr lang="en-US" sz="1300" b="1" dirty="0">
                <a:solidFill>
                  <a:srgbClr val="0D1B2A"/>
                </a:solidFill>
                <a:latin typeface="Cambria" pitchFamily="34" charset="0"/>
                <a:ea typeface="Cambria" pitchFamily="34" charset="-122"/>
                <a:cs typeface="Cambria" pitchFamily="34" charset="-120"/>
              </a:rPr>
              <a:t>Prophet</a:t>
            </a:r>
            <a:endParaRPr lang="en-US" sz="1300" dirty="0"/>
          </a:p>
        </p:txBody>
      </p:sp>
      <p:sp>
        <p:nvSpPr>
          <p:cNvPr id="8" name="Text 5"/>
          <p:cNvSpPr/>
          <p:nvPr/>
        </p:nvSpPr>
        <p:spPr>
          <a:xfrm>
            <a:off x="411480" y="4663440"/>
            <a:ext cx="2606040" cy="228600"/>
          </a:xfrm>
          <a:prstGeom prst="rect">
            <a:avLst/>
          </a:prstGeom>
          <a:noFill/>
          <a:ln/>
        </p:spPr>
        <p:txBody>
          <a:bodyPr wrap="square" lIns="0" tIns="0" rIns="0" bIns="0" rtlCol="0" anchor="ctr"/>
          <a:lstStyle/>
          <a:p>
            <a:pPr marL="0" indent="0">
              <a:buNone/>
            </a:pPr>
            <a:r>
              <a:rPr lang="en-US" sz="850" dirty="0">
                <a:solidFill>
                  <a:srgbClr val="6B7B8D"/>
                </a:solidFill>
                <a:latin typeface="Calibri" pitchFamily="34" charset="0"/>
                <a:ea typeface="Calibri" pitchFamily="34" charset="-122"/>
                <a:cs typeface="Calibri" pitchFamily="34" charset="-120"/>
              </a:rPr>
              <a:t>Lowest MAPE in 6 of 7 categories. Handles seasonality and holidays natively.</a:t>
            </a:r>
            <a:endParaRPr lang="en-US" sz="850" dirty="0"/>
          </a:p>
        </p:txBody>
      </p:sp>
      <p:sp>
        <p:nvSpPr>
          <p:cNvPr id="9" name="Shape 6"/>
          <p:cNvSpPr/>
          <p:nvPr/>
        </p:nvSpPr>
        <p:spPr>
          <a:xfrm>
            <a:off x="3310128" y="4160520"/>
            <a:ext cx="2834640" cy="777240"/>
          </a:xfrm>
          <a:prstGeom prst="roundRect">
            <a:avLst>
              <a:gd name="adj" fmla="val 9412"/>
            </a:avLst>
          </a:prstGeom>
          <a:solidFill>
            <a:srgbClr val="FFFFFF"/>
          </a:solidFill>
          <a:ln w="12700">
            <a:solidFill>
              <a:srgbClr val="FFFFFF"/>
            </a:solidFill>
            <a:prstDash val="solid"/>
          </a:ln>
          <a:effectLst>
            <a:outerShdw blurRad="101600" dist="38100" dir="2700000" algn="bl" rotWithShape="0">
              <a:srgbClr val="000000">
                <a:alpha val="12000"/>
              </a:srgbClr>
            </a:outerShdw>
          </a:effectLst>
        </p:spPr>
      </p:sp>
      <p:sp>
        <p:nvSpPr>
          <p:cNvPr id="10" name="Text 7"/>
          <p:cNvSpPr/>
          <p:nvPr/>
        </p:nvSpPr>
        <p:spPr>
          <a:xfrm>
            <a:off x="3447288" y="4206240"/>
            <a:ext cx="1828800" cy="256032"/>
          </a:xfrm>
          <a:prstGeom prst="rect">
            <a:avLst/>
          </a:prstGeom>
          <a:noFill/>
          <a:ln/>
        </p:spPr>
        <p:txBody>
          <a:bodyPr wrap="square" lIns="0" tIns="0" rIns="0" bIns="0" rtlCol="0" anchor="ctr"/>
          <a:lstStyle/>
          <a:p>
            <a:pPr marL="0" indent="0">
              <a:buNone/>
            </a:pPr>
            <a:r>
              <a:rPr lang="en-US" sz="1000" b="1" dirty="0">
                <a:solidFill>
                  <a:srgbClr val="7B1FA2"/>
                </a:solidFill>
                <a:latin typeface="Calibri" pitchFamily="34" charset="0"/>
                <a:ea typeface="Calibri" pitchFamily="34" charset="-122"/>
                <a:cs typeface="Calibri" pitchFamily="34" charset="-120"/>
              </a:rPr>
              <a:t>2nd Place</a:t>
            </a:r>
            <a:endParaRPr lang="en-US" sz="1000" dirty="0"/>
          </a:p>
        </p:txBody>
      </p:sp>
      <p:sp>
        <p:nvSpPr>
          <p:cNvPr id="11" name="Text 8"/>
          <p:cNvSpPr/>
          <p:nvPr/>
        </p:nvSpPr>
        <p:spPr>
          <a:xfrm>
            <a:off x="3447288" y="4434840"/>
            <a:ext cx="2606040" cy="219456"/>
          </a:xfrm>
          <a:prstGeom prst="rect">
            <a:avLst/>
          </a:prstGeom>
          <a:noFill/>
          <a:ln/>
        </p:spPr>
        <p:txBody>
          <a:bodyPr wrap="square" lIns="0" tIns="0" rIns="0" bIns="0" rtlCol="0" anchor="ctr"/>
          <a:lstStyle/>
          <a:p>
            <a:pPr marL="0" indent="0">
              <a:buNone/>
            </a:pPr>
            <a:r>
              <a:rPr lang="en-US" sz="1300" b="1" dirty="0">
                <a:solidFill>
                  <a:srgbClr val="0D1B2A"/>
                </a:solidFill>
                <a:latin typeface="Cambria" pitchFamily="34" charset="0"/>
                <a:ea typeface="Cambria" pitchFamily="34" charset="-122"/>
                <a:cs typeface="Cambria" pitchFamily="34" charset="-120"/>
              </a:rPr>
              <a:t>ARIMA (2,1,2)</a:t>
            </a:r>
            <a:endParaRPr lang="en-US" sz="1300" dirty="0"/>
          </a:p>
        </p:txBody>
      </p:sp>
      <p:sp>
        <p:nvSpPr>
          <p:cNvPr id="12" name="Text 9"/>
          <p:cNvSpPr/>
          <p:nvPr/>
        </p:nvSpPr>
        <p:spPr>
          <a:xfrm>
            <a:off x="3447288" y="4663440"/>
            <a:ext cx="2606040" cy="228600"/>
          </a:xfrm>
          <a:prstGeom prst="rect">
            <a:avLst/>
          </a:prstGeom>
          <a:noFill/>
          <a:ln/>
        </p:spPr>
        <p:txBody>
          <a:bodyPr wrap="square" lIns="0" tIns="0" rIns="0" bIns="0" rtlCol="0" anchor="ctr"/>
          <a:lstStyle/>
          <a:p>
            <a:pPr marL="0" indent="0">
              <a:buNone/>
            </a:pPr>
            <a:r>
              <a:rPr lang="en-US" sz="850" dirty="0">
                <a:solidFill>
                  <a:srgbClr val="6B7B8D"/>
                </a:solidFill>
                <a:latin typeface="Calibri" pitchFamily="34" charset="0"/>
                <a:ea typeface="Calibri" pitchFamily="34" charset="-122"/>
                <a:cs typeface="Calibri" pitchFamily="34" charset="-120"/>
              </a:rPr>
              <a:t>Strong on stable categories. Competitive with Prophet on Bakery.</a:t>
            </a:r>
            <a:endParaRPr lang="en-US" sz="850" dirty="0"/>
          </a:p>
        </p:txBody>
      </p:sp>
      <p:sp>
        <p:nvSpPr>
          <p:cNvPr id="13" name="Shape 10"/>
          <p:cNvSpPr/>
          <p:nvPr/>
        </p:nvSpPr>
        <p:spPr>
          <a:xfrm>
            <a:off x="6355080" y="4160520"/>
            <a:ext cx="2834640" cy="777240"/>
          </a:xfrm>
          <a:prstGeom prst="roundRect">
            <a:avLst>
              <a:gd name="adj" fmla="val 9412"/>
            </a:avLst>
          </a:prstGeom>
          <a:solidFill>
            <a:srgbClr val="FFFFFF"/>
          </a:solidFill>
          <a:ln w="12700">
            <a:solidFill>
              <a:srgbClr val="FFFFFF"/>
            </a:solidFill>
            <a:prstDash val="solid"/>
          </a:ln>
          <a:effectLst>
            <a:outerShdw blurRad="101600" dist="38100" dir="2700000" algn="bl" rotWithShape="0">
              <a:srgbClr val="000000">
                <a:alpha val="12000"/>
              </a:srgbClr>
            </a:outerShdw>
          </a:effectLst>
        </p:spPr>
      </p:sp>
      <p:sp>
        <p:nvSpPr>
          <p:cNvPr id="14" name="Text 11"/>
          <p:cNvSpPr/>
          <p:nvPr/>
        </p:nvSpPr>
        <p:spPr>
          <a:xfrm>
            <a:off x="6492240" y="4206240"/>
            <a:ext cx="1828800" cy="256032"/>
          </a:xfrm>
          <a:prstGeom prst="rect">
            <a:avLst/>
          </a:prstGeom>
          <a:noFill/>
          <a:ln/>
        </p:spPr>
        <p:txBody>
          <a:bodyPr wrap="square" lIns="0" tIns="0" rIns="0" bIns="0" rtlCol="0" anchor="ctr"/>
          <a:lstStyle/>
          <a:p>
            <a:pPr marL="0" indent="0">
              <a:buNone/>
            </a:pPr>
            <a:r>
              <a:rPr lang="en-US" sz="1000" b="1" dirty="0">
                <a:solidFill>
                  <a:srgbClr val="E2A829"/>
                </a:solidFill>
                <a:latin typeface="Calibri" pitchFamily="34" charset="0"/>
                <a:ea typeface="Calibri" pitchFamily="34" charset="-122"/>
                <a:cs typeface="Calibri" pitchFamily="34" charset="-120"/>
              </a:rPr>
              <a:t>3rd Place</a:t>
            </a:r>
            <a:endParaRPr lang="en-US" sz="1000" dirty="0"/>
          </a:p>
        </p:txBody>
      </p:sp>
      <p:sp>
        <p:nvSpPr>
          <p:cNvPr id="15" name="Text 12"/>
          <p:cNvSpPr/>
          <p:nvPr/>
        </p:nvSpPr>
        <p:spPr>
          <a:xfrm>
            <a:off x="6492240" y="4434840"/>
            <a:ext cx="2606040" cy="219456"/>
          </a:xfrm>
          <a:prstGeom prst="rect">
            <a:avLst/>
          </a:prstGeom>
          <a:noFill/>
          <a:ln/>
        </p:spPr>
        <p:txBody>
          <a:bodyPr wrap="square" lIns="0" tIns="0" rIns="0" bIns="0" rtlCol="0" anchor="ctr"/>
          <a:lstStyle/>
          <a:p>
            <a:pPr marL="0" indent="0">
              <a:buNone/>
            </a:pPr>
            <a:r>
              <a:rPr lang="en-US" sz="1300" b="1" dirty="0">
                <a:solidFill>
                  <a:srgbClr val="0D1B2A"/>
                </a:solidFill>
                <a:latin typeface="Cambria" pitchFamily="34" charset="0"/>
                <a:ea typeface="Cambria" pitchFamily="34" charset="-122"/>
                <a:cs typeface="Cambria" pitchFamily="34" charset="-120"/>
              </a:rPr>
              <a:t>Exp. Smoothing</a:t>
            </a:r>
            <a:endParaRPr lang="en-US" sz="1300" dirty="0"/>
          </a:p>
        </p:txBody>
      </p:sp>
      <p:sp>
        <p:nvSpPr>
          <p:cNvPr id="16" name="Text 13"/>
          <p:cNvSpPr/>
          <p:nvPr/>
        </p:nvSpPr>
        <p:spPr>
          <a:xfrm>
            <a:off x="6492240" y="4663440"/>
            <a:ext cx="2606040" cy="228600"/>
          </a:xfrm>
          <a:prstGeom prst="rect">
            <a:avLst/>
          </a:prstGeom>
          <a:noFill/>
          <a:ln/>
        </p:spPr>
        <p:txBody>
          <a:bodyPr wrap="square" lIns="0" tIns="0" rIns="0" bIns="0" rtlCol="0" anchor="ctr"/>
          <a:lstStyle/>
          <a:p>
            <a:pPr marL="0" indent="0">
              <a:buNone/>
            </a:pPr>
            <a:r>
              <a:rPr lang="en-US" sz="850" dirty="0">
                <a:solidFill>
                  <a:srgbClr val="6B7B8D"/>
                </a:solidFill>
                <a:latin typeface="Calibri" pitchFamily="34" charset="0"/>
                <a:ea typeface="Calibri" pitchFamily="34" charset="-122"/>
                <a:cs typeface="Calibri" pitchFamily="34" charset="-120"/>
              </a:rPr>
              <a:t>Consistently highest errors. Fails on trend + seasonal data.</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Text 1"/>
          <p:cNvSpPr/>
          <p:nvPr/>
        </p:nvSpPr>
        <p:spPr>
          <a:xfrm>
            <a:off x="457200" y="13716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Days of Inventory Cover by Store</a:t>
            </a:r>
            <a:endParaRPr lang="en-US" sz="2600" dirty="0"/>
          </a:p>
        </p:txBody>
      </p:sp>
      <p:pic>
        <p:nvPicPr>
          <p:cNvPr id="4" name="Image 0" descr="preencoded.png"/>
          <p:cNvPicPr>
            <a:picLocks noChangeAspect="1"/>
          </p:cNvPicPr>
          <p:nvPr/>
        </p:nvPicPr>
        <p:blipFill>
          <a:blip r:embed="rId3"/>
          <a:stretch>
            <a:fillRect/>
          </a:stretch>
        </p:blipFill>
        <p:spPr>
          <a:xfrm>
            <a:off x="274320" y="1005840"/>
            <a:ext cx="8595360" cy="3657600"/>
          </a:xfrm>
          <a:prstGeom prst="rect">
            <a:avLst/>
          </a:prstGeom>
        </p:spPr>
      </p:pic>
      <p:sp>
        <p:nvSpPr>
          <p:cNvPr id="5" name="Shape 2"/>
          <p:cNvSpPr/>
          <p:nvPr/>
        </p:nvSpPr>
        <p:spPr>
          <a:xfrm>
            <a:off x="274320" y="4754880"/>
            <a:ext cx="201168" cy="201168"/>
          </a:xfrm>
          <a:prstGeom prst="rect">
            <a:avLst/>
          </a:prstGeom>
          <a:solidFill>
            <a:srgbClr val="C0392B"/>
          </a:solidFill>
          <a:ln w="12700">
            <a:solidFill>
              <a:srgbClr val="C0392B"/>
            </a:solidFill>
            <a:prstDash val="solid"/>
          </a:ln>
        </p:spPr>
      </p:sp>
      <p:sp>
        <p:nvSpPr>
          <p:cNvPr id="6" name="Text 3"/>
          <p:cNvSpPr/>
          <p:nvPr/>
        </p:nvSpPr>
        <p:spPr>
          <a:xfrm>
            <a:off x="502920" y="4754880"/>
            <a:ext cx="2286000" cy="201168"/>
          </a:xfrm>
          <a:prstGeom prst="rect">
            <a:avLst/>
          </a:prstGeom>
          <a:noFill/>
          <a:ln/>
        </p:spPr>
        <p:txBody>
          <a:bodyPr wrap="square" lIns="0" tIns="0" rIns="0" bIns="0" rtlCol="0" anchor="ctr"/>
          <a:lstStyle/>
          <a:p>
            <a:pPr marL="0" indent="0">
              <a:buNone/>
            </a:pPr>
            <a:r>
              <a:rPr lang="en-US" sz="900" dirty="0">
                <a:solidFill>
                  <a:srgbClr val="6B7B8D"/>
                </a:solidFill>
                <a:latin typeface="Calibri" pitchFamily="34" charset="0"/>
                <a:ea typeface="Calibri" pitchFamily="34" charset="-122"/>
                <a:cs typeface="Calibri" pitchFamily="34" charset="-120"/>
              </a:rPr>
              <a:t>Critical under 7 days</a:t>
            </a:r>
            <a:endParaRPr lang="en-US" sz="900" dirty="0"/>
          </a:p>
        </p:txBody>
      </p:sp>
      <p:sp>
        <p:nvSpPr>
          <p:cNvPr id="7" name="Shape 4"/>
          <p:cNvSpPr/>
          <p:nvPr/>
        </p:nvSpPr>
        <p:spPr>
          <a:xfrm>
            <a:off x="2926080" y="4754880"/>
            <a:ext cx="201168" cy="201168"/>
          </a:xfrm>
          <a:prstGeom prst="rect">
            <a:avLst/>
          </a:prstGeom>
          <a:solidFill>
            <a:srgbClr val="4CAF50"/>
          </a:solidFill>
          <a:ln w="12700">
            <a:solidFill>
              <a:srgbClr val="4CAF50"/>
            </a:solidFill>
            <a:prstDash val="solid"/>
          </a:ln>
        </p:spPr>
      </p:sp>
      <p:sp>
        <p:nvSpPr>
          <p:cNvPr id="8" name="Text 5"/>
          <p:cNvSpPr/>
          <p:nvPr/>
        </p:nvSpPr>
        <p:spPr>
          <a:xfrm>
            <a:off x="3154680" y="4754880"/>
            <a:ext cx="2560320" cy="201168"/>
          </a:xfrm>
          <a:prstGeom prst="rect">
            <a:avLst/>
          </a:prstGeom>
          <a:noFill/>
          <a:ln/>
        </p:spPr>
        <p:txBody>
          <a:bodyPr wrap="square" lIns="0" tIns="0" rIns="0" bIns="0" rtlCol="0" anchor="ctr"/>
          <a:lstStyle/>
          <a:p>
            <a:pPr marL="0" indent="0">
              <a:buNone/>
            </a:pPr>
            <a:r>
              <a:rPr lang="en-US" sz="900" dirty="0">
                <a:solidFill>
                  <a:srgbClr val="6B7B8D"/>
                </a:solidFill>
                <a:latin typeface="Calibri" pitchFamily="34" charset="0"/>
                <a:ea typeface="Calibri" pitchFamily="34" charset="-122"/>
                <a:cs typeface="Calibri" pitchFamily="34" charset="-120"/>
              </a:rPr>
              <a:t>Adequate over 14 days</a:t>
            </a:r>
            <a:endParaRPr lang="en-US" sz="900" dirty="0"/>
          </a:p>
        </p:txBody>
      </p:sp>
      <p:sp>
        <p:nvSpPr>
          <p:cNvPr id="9" name="Text 6"/>
          <p:cNvSpPr/>
          <p:nvPr/>
        </p:nvSpPr>
        <p:spPr>
          <a:xfrm>
            <a:off x="5669280" y="4736592"/>
            <a:ext cx="3246120" cy="237744"/>
          </a:xfrm>
          <a:prstGeom prst="rect">
            <a:avLst/>
          </a:prstGeom>
          <a:noFill/>
          <a:ln/>
        </p:spPr>
        <p:txBody>
          <a:bodyPr wrap="square" lIns="0" tIns="0" rIns="0" bIns="0" rtlCol="0" anchor="ctr"/>
          <a:lstStyle/>
          <a:p>
            <a:pPr marL="0" indent="0">
              <a:buNone/>
            </a:pPr>
            <a:r>
              <a:rPr lang="en-US" sz="900" b="1" dirty="0">
                <a:solidFill>
                  <a:srgbClr val="C0392B"/>
                </a:solidFill>
                <a:latin typeface="Calibri" pitchFamily="34" charset="0"/>
                <a:ea typeface="Calibri" pitchFamily="34" charset="-122"/>
                <a:cs typeface="Calibri" pitchFamily="34" charset="-120"/>
              </a:rPr>
              <a:t>Indomie Noodles, Bread, and Rice are at critical cover levels across multiple stores simultaneously.</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C0392B"/>
          </a:solidFill>
          <a:ln w="12700">
            <a:solidFill>
              <a:srgbClr val="C0392B"/>
            </a:solidFill>
            <a:prstDash val="solid"/>
          </a:ln>
        </p:spPr>
      </p:sp>
      <p:sp>
        <p:nvSpPr>
          <p:cNvPr id="3" name="Text 1"/>
          <p:cNvSpPr/>
          <p:nvPr/>
        </p:nvSpPr>
        <p:spPr>
          <a:xfrm>
            <a:off x="457200" y="13716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Reorder Urgency &amp; Inventory Gap</a:t>
            </a:r>
            <a:endParaRPr lang="en-US" sz="2600" dirty="0"/>
          </a:p>
        </p:txBody>
      </p:sp>
      <p:pic>
        <p:nvPicPr>
          <p:cNvPr id="4" name="Image 0" descr="preencoded.png"/>
          <p:cNvPicPr>
            <a:picLocks noChangeAspect="1"/>
          </p:cNvPicPr>
          <p:nvPr/>
        </p:nvPicPr>
        <p:blipFill>
          <a:blip r:embed="rId3"/>
          <a:stretch>
            <a:fillRect/>
          </a:stretch>
        </p:blipFill>
        <p:spPr>
          <a:xfrm>
            <a:off x="274320" y="1005840"/>
            <a:ext cx="4160520" cy="3291840"/>
          </a:xfrm>
          <a:prstGeom prst="rect">
            <a:avLst/>
          </a:prstGeom>
        </p:spPr>
      </p:pic>
      <p:pic>
        <p:nvPicPr>
          <p:cNvPr id="5" name="Image 1" descr="preencoded.png"/>
          <p:cNvPicPr>
            <a:picLocks noChangeAspect="1"/>
          </p:cNvPicPr>
          <p:nvPr/>
        </p:nvPicPr>
        <p:blipFill>
          <a:blip r:embed="rId4"/>
          <a:stretch>
            <a:fillRect/>
          </a:stretch>
        </p:blipFill>
        <p:spPr>
          <a:xfrm>
            <a:off x="4709160" y="1005840"/>
            <a:ext cx="4160520" cy="3291840"/>
          </a:xfrm>
          <a:prstGeom prst="rect">
            <a:avLst/>
          </a:prstGeom>
        </p:spPr>
      </p:pic>
      <p:sp>
        <p:nvSpPr>
          <p:cNvPr id="6" name="Shape 2"/>
          <p:cNvSpPr/>
          <p:nvPr/>
        </p:nvSpPr>
        <p:spPr>
          <a:xfrm>
            <a:off x="274320" y="4434840"/>
            <a:ext cx="8595360" cy="566928"/>
          </a:xfrm>
          <a:prstGeom prst="roundRect">
            <a:avLst>
              <a:gd name="adj" fmla="val 12903"/>
            </a:avLst>
          </a:prstGeom>
          <a:solidFill>
            <a:srgbClr val="FFEBEE"/>
          </a:solidFill>
          <a:ln w="12700">
            <a:solidFill>
              <a:srgbClr val="FFCDD2"/>
            </a:solidFill>
            <a:prstDash val="solid"/>
          </a:ln>
          <a:effectLst>
            <a:outerShdw blurRad="101600" dist="38100" dir="2700000" algn="bl" rotWithShape="0">
              <a:srgbClr val="000000">
                <a:alpha val="12000"/>
              </a:srgbClr>
            </a:outerShdw>
          </a:effectLst>
        </p:spPr>
      </p:sp>
      <p:sp>
        <p:nvSpPr>
          <p:cNvPr id="7" name="Text 3"/>
          <p:cNvSpPr/>
          <p:nvPr/>
        </p:nvSpPr>
        <p:spPr>
          <a:xfrm>
            <a:off x="457200" y="4480560"/>
            <a:ext cx="8321040" cy="475488"/>
          </a:xfrm>
          <a:prstGeom prst="rect">
            <a:avLst/>
          </a:prstGeom>
          <a:noFill/>
          <a:ln/>
        </p:spPr>
        <p:txBody>
          <a:bodyPr wrap="square" lIns="0" tIns="0" rIns="0" bIns="0" rtlCol="0" anchor="ctr"/>
          <a:lstStyle/>
          <a:p>
            <a:pPr marL="0" indent="0">
              <a:buNone/>
            </a:pPr>
            <a:r>
              <a:rPr lang="en-US" sz="950" b="1" dirty="0">
                <a:solidFill>
                  <a:srgbClr val="C0392B"/>
                </a:solidFill>
                <a:latin typeface="Calibri" pitchFamily="34" charset="0"/>
                <a:ea typeface="Calibri" pitchFamily="34" charset="-122"/>
                <a:cs typeface="Calibri" pitchFamily="34" charset="-120"/>
              </a:rPr>
              <a:t>All 20 products show negative inventory gaps versus 30-day forecasted demand. Indomie Noodles (-914 units), Bread (-887 units), and Rice (-852 units) face the most severe shortfalls and require immediate replenishment action.</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565C0"/>
          </a:solidFill>
          <a:ln w="12700">
            <a:solidFill>
              <a:srgbClr val="1565C0"/>
            </a:solidFill>
            <a:prstDash val="solid"/>
          </a:ln>
        </p:spPr>
      </p:sp>
      <p:sp>
        <p:nvSpPr>
          <p:cNvPr id="3" name="Text 1"/>
          <p:cNvSpPr/>
          <p:nvPr/>
        </p:nvSpPr>
        <p:spPr>
          <a:xfrm>
            <a:off x="457200" y="137160"/>
            <a:ext cx="822960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Promotion Impact &amp; Replenishment Efficiency</a:t>
            </a:r>
            <a:endParaRPr lang="en-US" sz="2400" dirty="0"/>
          </a:p>
        </p:txBody>
      </p:sp>
      <p:pic>
        <p:nvPicPr>
          <p:cNvPr id="4" name="Image 0" descr="preencoded.png"/>
          <p:cNvPicPr>
            <a:picLocks noChangeAspect="1"/>
          </p:cNvPicPr>
          <p:nvPr/>
        </p:nvPicPr>
        <p:blipFill>
          <a:blip r:embed="rId3"/>
          <a:stretch>
            <a:fillRect/>
          </a:stretch>
        </p:blipFill>
        <p:spPr>
          <a:xfrm>
            <a:off x="274320" y="1005840"/>
            <a:ext cx="5120640" cy="3154680"/>
          </a:xfrm>
          <a:prstGeom prst="rect">
            <a:avLst/>
          </a:prstGeom>
        </p:spPr>
      </p:pic>
      <p:sp>
        <p:nvSpPr>
          <p:cNvPr id="5" name="Text 2"/>
          <p:cNvSpPr/>
          <p:nvPr/>
        </p:nvSpPr>
        <p:spPr>
          <a:xfrm>
            <a:off x="5669280" y="1005840"/>
            <a:ext cx="3200400" cy="274320"/>
          </a:xfrm>
          <a:prstGeom prst="rect">
            <a:avLst/>
          </a:prstGeom>
          <a:noFill/>
          <a:ln/>
        </p:spPr>
        <p:txBody>
          <a:bodyPr wrap="square" lIns="0" tIns="0" rIns="0" bIns="0" rtlCol="0" anchor="ctr"/>
          <a:lstStyle/>
          <a:p>
            <a:pPr marL="0" indent="0">
              <a:buNone/>
            </a:pPr>
            <a:r>
              <a:rPr lang="en-US" sz="900" b="1" kern="0" spc="300" dirty="0">
                <a:solidFill>
                  <a:srgbClr val="1565C0"/>
                </a:solidFill>
                <a:latin typeface="Calibri" pitchFamily="34" charset="0"/>
                <a:ea typeface="Calibri" pitchFamily="34" charset="-122"/>
                <a:cs typeface="Calibri" pitchFamily="34" charset="-120"/>
              </a:rPr>
              <a:t>PROMOTION FINDINGS</a:t>
            </a:r>
            <a:endParaRPr lang="en-US" sz="900" dirty="0"/>
          </a:p>
        </p:txBody>
      </p:sp>
      <p:sp>
        <p:nvSpPr>
          <p:cNvPr id="6" name="Shape 3"/>
          <p:cNvSpPr/>
          <p:nvPr/>
        </p:nvSpPr>
        <p:spPr>
          <a:xfrm>
            <a:off x="5669280" y="1371600"/>
            <a:ext cx="3200400" cy="713232"/>
          </a:xfrm>
          <a:prstGeom prst="roundRect">
            <a:avLst>
              <a:gd name="adj" fmla="val 10256"/>
            </a:avLst>
          </a:prstGeom>
          <a:solidFill>
            <a:srgbClr val="EEF2F6"/>
          </a:solidFill>
          <a:ln w="12700">
            <a:solidFill>
              <a:srgbClr val="EEF2F6"/>
            </a:solidFill>
            <a:prstDash val="solid"/>
          </a:ln>
          <a:effectLst>
            <a:outerShdw blurRad="101600" dist="38100" dir="2700000" algn="bl" rotWithShape="0">
              <a:srgbClr val="000000">
                <a:alpha val="12000"/>
              </a:srgbClr>
            </a:outerShdw>
          </a:effectLst>
        </p:spPr>
      </p:sp>
      <p:sp>
        <p:nvSpPr>
          <p:cNvPr id="7" name="Text 4"/>
          <p:cNvSpPr/>
          <p:nvPr/>
        </p:nvSpPr>
        <p:spPr>
          <a:xfrm>
            <a:off x="5806440" y="1417320"/>
            <a:ext cx="2926080" cy="292608"/>
          </a:xfrm>
          <a:prstGeom prst="rect">
            <a:avLst/>
          </a:prstGeom>
          <a:noFill/>
          <a:ln/>
        </p:spPr>
        <p:txBody>
          <a:bodyPr wrap="square" lIns="0" tIns="0" rIns="0" bIns="0" rtlCol="0" anchor="ctr"/>
          <a:lstStyle/>
          <a:p>
            <a:pPr marL="0" indent="0">
              <a:buNone/>
            </a:pPr>
            <a:r>
              <a:rPr lang="en-US" sz="2000" b="1" dirty="0">
                <a:solidFill>
                  <a:srgbClr val="1565C0"/>
                </a:solidFill>
                <a:latin typeface="Cambria" pitchFamily="34" charset="0"/>
                <a:ea typeface="Cambria" pitchFamily="34" charset="-122"/>
                <a:cs typeface="Cambria" pitchFamily="34" charset="-120"/>
              </a:rPr>
              <a:t>+16%</a:t>
            </a:r>
            <a:endParaRPr lang="en-US" sz="2000" dirty="0"/>
          </a:p>
        </p:txBody>
      </p:sp>
      <p:sp>
        <p:nvSpPr>
          <p:cNvPr id="8" name="Text 5"/>
          <p:cNvSpPr/>
          <p:nvPr/>
        </p:nvSpPr>
        <p:spPr>
          <a:xfrm>
            <a:off x="5806440" y="1682496"/>
            <a:ext cx="2926080" cy="329184"/>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average uplift across all categories during promotions</a:t>
            </a:r>
            <a:endParaRPr lang="en-US" sz="950" dirty="0"/>
          </a:p>
        </p:txBody>
      </p:sp>
      <p:sp>
        <p:nvSpPr>
          <p:cNvPr id="9" name="Shape 6"/>
          <p:cNvSpPr/>
          <p:nvPr/>
        </p:nvSpPr>
        <p:spPr>
          <a:xfrm>
            <a:off x="5669280" y="2286000"/>
            <a:ext cx="3200400" cy="713232"/>
          </a:xfrm>
          <a:prstGeom prst="roundRect">
            <a:avLst>
              <a:gd name="adj" fmla="val 10256"/>
            </a:avLst>
          </a:prstGeom>
          <a:solidFill>
            <a:srgbClr val="EEF2F6"/>
          </a:solidFill>
          <a:ln w="12700">
            <a:solidFill>
              <a:srgbClr val="EEF2F6"/>
            </a:solidFill>
            <a:prstDash val="solid"/>
          </a:ln>
          <a:effectLst>
            <a:outerShdw blurRad="101600" dist="38100" dir="2700000" algn="bl" rotWithShape="0">
              <a:srgbClr val="000000">
                <a:alpha val="12000"/>
              </a:srgbClr>
            </a:outerShdw>
          </a:effectLst>
        </p:spPr>
      </p:sp>
      <p:sp>
        <p:nvSpPr>
          <p:cNvPr id="10" name="Text 7"/>
          <p:cNvSpPr/>
          <p:nvPr/>
        </p:nvSpPr>
        <p:spPr>
          <a:xfrm>
            <a:off x="5806440" y="2331720"/>
            <a:ext cx="2926080" cy="292608"/>
          </a:xfrm>
          <a:prstGeom prst="rect">
            <a:avLst/>
          </a:prstGeom>
          <a:noFill/>
          <a:ln/>
        </p:spPr>
        <p:txBody>
          <a:bodyPr wrap="square" lIns="0" tIns="0" rIns="0" bIns="0" rtlCol="0" anchor="ctr"/>
          <a:lstStyle/>
          <a:p>
            <a:pPr marL="0" indent="0">
              <a:buNone/>
            </a:pPr>
            <a:r>
              <a:rPr lang="en-US" sz="2000" b="1" dirty="0">
                <a:solidFill>
                  <a:srgbClr val="1565C0"/>
                </a:solidFill>
                <a:latin typeface="Cambria" pitchFamily="34" charset="0"/>
                <a:ea typeface="Cambria" pitchFamily="34" charset="-122"/>
                <a:cs typeface="Cambria" pitchFamily="34" charset="-120"/>
              </a:rPr>
              <a:t>Bakery</a:t>
            </a:r>
            <a:endParaRPr lang="en-US" sz="2000" dirty="0"/>
          </a:p>
        </p:txBody>
      </p:sp>
      <p:sp>
        <p:nvSpPr>
          <p:cNvPr id="11" name="Text 8"/>
          <p:cNvSpPr/>
          <p:nvPr/>
        </p:nvSpPr>
        <p:spPr>
          <a:xfrm>
            <a:off x="5806440" y="2596896"/>
            <a:ext cx="2926080" cy="329184"/>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largest absolute increase: +4.1 units per day</a:t>
            </a:r>
            <a:endParaRPr lang="en-US" sz="950" dirty="0"/>
          </a:p>
        </p:txBody>
      </p:sp>
      <p:sp>
        <p:nvSpPr>
          <p:cNvPr id="12" name="Shape 9"/>
          <p:cNvSpPr/>
          <p:nvPr/>
        </p:nvSpPr>
        <p:spPr>
          <a:xfrm>
            <a:off x="5669280" y="3200400"/>
            <a:ext cx="3200400" cy="713232"/>
          </a:xfrm>
          <a:prstGeom prst="roundRect">
            <a:avLst>
              <a:gd name="adj" fmla="val 10256"/>
            </a:avLst>
          </a:prstGeom>
          <a:solidFill>
            <a:srgbClr val="EEF2F6"/>
          </a:solidFill>
          <a:ln w="12700">
            <a:solidFill>
              <a:srgbClr val="EEF2F6"/>
            </a:solidFill>
            <a:prstDash val="solid"/>
          </a:ln>
          <a:effectLst>
            <a:outerShdw blurRad="101600" dist="38100" dir="2700000" algn="bl" rotWithShape="0">
              <a:srgbClr val="000000">
                <a:alpha val="12000"/>
              </a:srgbClr>
            </a:outerShdw>
          </a:effectLst>
        </p:spPr>
      </p:sp>
      <p:sp>
        <p:nvSpPr>
          <p:cNvPr id="13" name="Text 10"/>
          <p:cNvSpPr/>
          <p:nvPr/>
        </p:nvSpPr>
        <p:spPr>
          <a:xfrm>
            <a:off x="5806440" y="3246120"/>
            <a:ext cx="2926080" cy="292608"/>
          </a:xfrm>
          <a:prstGeom prst="rect">
            <a:avLst/>
          </a:prstGeom>
          <a:noFill/>
          <a:ln/>
        </p:spPr>
        <p:txBody>
          <a:bodyPr wrap="square" lIns="0" tIns="0" rIns="0" bIns="0" rtlCol="0" anchor="ctr"/>
          <a:lstStyle/>
          <a:p>
            <a:pPr marL="0" indent="0">
              <a:buNone/>
            </a:pPr>
            <a:r>
              <a:rPr lang="en-US" sz="2000" b="1" dirty="0">
                <a:solidFill>
                  <a:srgbClr val="1565C0"/>
                </a:solidFill>
                <a:latin typeface="Cambria" pitchFamily="34" charset="0"/>
                <a:ea typeface="Cambria" pitchFamily="34" charset="-122"/>
                <a:cs typeface="Cambria" pitchFamily="34" charset="-120"/>
              </a:rPr>
              <a:t>100%</a:t>
            </a:r>
            <a:endParaRPr lang="en-US" sz="2000" dirty="0"/>
          </a:p>
        </p:txBody>
      </p:sp>
      <p:sp>
        <p:nvSpPr>
          <p:cNvPr id="14" name="Text 11"/>
          <p:cNvSpPr/>
          <p:nvPr/>
        </p:nvSpPr>
        <p:spPr>
          <a:xfrm>
            <a:off x="5806440" y="3511296"/>
            <a:ext cx="2926080" cy="329184"/>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of categories show measurable sales increase with promotions</a:t>
            </a:r>
            <a:endParaRPr lang="en-US" sz="950" dirty="0"/>
          </a:p>
        </p:txBody>
      </p:sp>
      <p:sp>
        <p:nvSpPr>
          <p:cNvPr id="15" name="Shape 12"/>
          <p:cNvSpPr/>
          <p:nvPr/>
        </p:nvSpPr>
        <p:spPr>
          <a:xfrm>
            <a:off x="274320" y="4297680"/>
            <a:ext cx="8595360" cy="594360"/>
          </a:xfrm>
          <a:prstGeom prst="roundRect">
            <a:avLst>
              <a:gd name="adj" fmla="val 12308"/>
            </a:avLst>
          </a:prstGeom>
          <a:solidFill>
            <a:srgbClr val="EEF2F6"/>
          </a:solidFill>
          <a:ln w="12700">
            <a:solidFill>
              <a:srgbClr val="EEF2F6"/>
            </a:solidFill>
            <a:prstDash val="solid"/>
          </a:ln>
          <a:effectLst>
            <a:outerShdw blurRad="101600" dist="38100" dir="2700000" algn="bl" rotWithShape="0">
              <a:srgbClr val="000000">
                <a:alpha val="12000"/>
              </a:srgbClr>
            </a:outerShdw>
          </a:effectLst>
        </p:spPr>
      </p:sp>
      <p:sp>
        <p:nvSpPr>
          <p:cNvPr id="16" name="Text 13"/>
          <p:cNvSpPr/>
          <p:nvPr/>
        </p:nvSpPr>
        <p:spPr>
          <a:xfrm>
            <a:off x="457200" y="4352544"/>
            <a:ext cx="8321040" cy="475488"/>
          </a:xfrm>
          <a:prstGeom prst="rect">
            <a:avLst/>
          </a:prstGeom>
          <a:noFill/>
          <a:ln/>
        </p:spPr>
        <p:txBody>
          <a:bodyPr wrap="square" lIns="0" tIns="0" rIns="0" bIns="0" rtlCol="0" anchor="ctr"/>
          <a:lstStyle/>
          <a:p>
            <a:pPr marL="0" indent="0">
              <a:buNone/>
            </a:pPr>
            <a:r>
              <a:rPr lang="en-US" sz="950" dirty="0">
                <a:solidFill>
                  <a:srgbClr val="0D1B2A"/>
                </a:solidFill>
                <a:latin typeface="Calibri" pitchFamily="34" charset="0"/>
                <a:ea typeface="Calibri" pitchFamily="34" charset="-122"/>
                <a:cs typeface="Calibri" pitchFamily="34" charset="-120"/>
              </a:rPr>
              <a:t>Replenishment implication: promotional periods consistently require 15 to 20% higher inventory allocations. Forecasting models that ignore promotion calendars will systematically understock during these periods.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Key Findings</a:t>
            </a:r>
            <a:endParaRPr lang="en-US" sz="3200" dirty="0"/>
          </a:p>
        </p:txBody>
      </p:sp>
      <p:sp>
        <p:nvSpPr>
          <p:cNvPr id="3" name="Shape 1"/>
          <p:cNvSpPr/>
          <p:nvPr/>
        </p:nvSpPr>
        <p:spPr>
          <a:xfrm>
            <a:off x="457200" y="896112"/>
            <a:ext cx="2011680" cy="45720"/>
          </a:xfrm>
          <a:prstGeom prst="rect">
            <a:avLst/>
          </a:prstGeom>
          <a:solidFill>
            <a:srgbClr val="E2A829"/>
          </a:solidFill>
          <a:ln w="12700">
            <a:solidFill>
              <a:srgbClr val="E2A829"/>
            </a:solidFill>
            <a:prstDash val="solid"/>
          </a:ln>
        </p:spPr>
      </p:sp>
      <p:sp>
        <p:nvSpPr>
          <p:cNvPr id="4" name="Shape 2"/>
          <p:cNvSpPr/>
          <p:nvPr/>
        </p:nvSpPr>
        <p:spPr>
          <a:xfrm>
            <a:off x="320040" y="1097280"/>
            <a:ext cx="4160520" cy="1024128"/>
          </a:xfrm>
          <a:prstGeom prst="roundRect">
            <a:avLst>
              <a:gd name="adj" fmla="val 7143"/>
            </a:avLst>
          </a:prstGeom>
          <a:solidFill>
            <a:srgbClr val="FFFFFF">
              <a:alpha val="10000"/>
            </a:srgbClr>
          </a:solidFill>
          <a:ln w="12700">
            <a:solidFill>
              <a:srgbClr val="E2A829"/>
            </a:solidFill>
            <a:prstDash val="solid"/>
          </a:ln>
        </p:spPr>
      </p:sp>
      <p:sp>
        <p:nvSpPr>
          <p:cNvPr id="5" name="Text 3"/>
          <p:cNvSpPr/>
          <p:nvPr/>
        </p:nvSpPr>
        <p:spPr>
          <a:xfrm>
            <a:off x="457200" y="1207008"/>
            <a:ext cx="502920" cy="384048"/>
          </a:xfrm>
          <a:prstGeom prst="rect">
            <a:avLst/>
          </a:prstGeom>
          <a:noFill/>
          <a:ln/>
        </p:spPr>
        <p:txBody>
          <a:bodyPr wrap="square" lIns="0" tIns="0" rIns="0" bIns="0" rtlCol="0" anchor="ctr"/>
          <a:lstStyle/>
          <a:p>
            <a:pPr marL="0" indent="0">
              <a:buNone/>
            </a:pPr>
            <a:r>
              <a:rPr lang="en-US" sz="1800" b="1" dirty="0">
                <a:solidFill>
                  <a:srgbClr val="E2A829"/>
                </a:solidFill>
                <a:latin typeface="Cambria" pitchFamily="34" charset="0"/>
                <a:ea typeface="Cambria" pitchFamily="34" charset="-122"/>
                <a:cs typeface="Cambria" pitchFamily="34" charset="-120"/>
              </a:rPr>
              <a:t>01</a:t>
            </a:r>
            <a:endParaRPr lang="en-US" sz="1800" dirty="0"/>
          </a:p>
        </p:txBody>
      </p:sp>
      <p:sp>
        <p:nvSpPr>
          <p:cNvPr id="6" name="Text 4"/>
          <p:cNvSpPr/>
          <p:nvPr/>
        </p:nvSpPr>
        <p:spPr>
          <a:xfrm>
            <a:off x="1005840" y="1188720"/>
            <a:ext cx="333756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Demand Is Highly Variable</a:t>
            </a:r>
            <a:endParaRPr lang="en-US" sz="1100" dirty="0"/>
          </a:p>
        </p:txBody>
      </p:sp>
      <p:sp>
        <p:nvSpPr>
          <p:cNvPr id="7" name="Text 5"/>
          <p:cNvSpPr/>
          <p:nvPr/>
        </p:nvSpPr>
        <p:spPr>
          <a:xfrm>
            <a:off x="1005840" y="1463040"/>
            <a:ext cx="3337560" cy="594360"/>
          </a:xfrm>
          <a:prstGeom prst="rect">
            <a:avLst/>
          </a:prstGeom>
          <a:noFill/>
          <a:ln/>
        </p:spPr>
        <p:txBody>
          <a:bodyPr wrap="square" lIns="0" tIns="0" rIns="0" bIns="0" rtlCol="0" anchor="ctr"/>
          <a:lstStyle/>
          <a:p>
            <a:pPr marL="0" indent="0">
              <a:buNone/>
            </a:pPr>
            <a:r>
              <a:rPr lang="en-US" sz="900" dirty="0">
                <a:solidFill>
                  <a:srgbClr val="B8D4C8"/>
                </a:solidFill>
                <a:latin typeface="Calibri" pitchFamily="34" charset="0"/>
                <a:ea typeface="Calibri" pitchFamily="34" charset="-122"/>
                <a:cs typeface="Calibri" pitchFamily="34" charset="-120"/>
              </a:rPr>
              <a:t>Every product category exceeds 50% demand variability. Bread, Indomie Noodles, and Rice combine the highest sales volumes with the largest daily swings, making them the hardest to plan.</a:t>
            </a:r>
            <a:endParaRPr lang="en-US" sz="900" dirty="0"/>
          </a:p>
        </p:txBody>
      </p:sp>
      <p:sp>
        <p:nvSpPr>
          <p:cNvPr id="8" name="Shape 6"/>
          <p:cNvSpPr/>
          <p:nvPr/>
        </p:nvSpPr>
        <p:spPr>
          <a:xfrm>
            <a:off x="4754880" y="1097280"/>
            <a:ext cx="4160520" cy="1024128"/>
          </a:xfrm>
          <a:prstGeom prst="roundRect">
            <a:avLst>
              <a:gd name="adj" fmla="val 7143"/>
            </a:avLst>
          </a:prstGeom>
          <a:solidFill>
            <a:srgbClr val="FFFFFF">
              <a:alpha val="10000"/>
            </a:srgbClr>
          </a:solidFill>
          <a:ln w="12700">
            <a:solidFill>
              <a:srgbClr val="E2A829"/>
            </a:solidFill>
            <a:prstDash val="solid"/>
          </a:ln>
        </p:spPr>
      </p:sp>
      <p:sp>
        <p:nvSpPr>
          <p:cNvPr id="9" name="Text 7"/>
          <p:cNvSpPr/>
          <p:nvPr/>
        </p:nvSpPr>
        <p:spPr>
          <a:xfrm>
            <a:off x="4892040" y="1207008"/>
            <a:ext cx="502920" cy="384048"/>
          </a:xfrm>
          <a:prstGeom prst="rect">
            <a:avLst/>
          </a:prstGeom>
          <a:noFill/>
          <a:ln/>
        </p:spPr>
        <p:txBody>
          <a:bodyPr wrap="square" lIns="0" tIns="0" rIns="0" bIns="0" rtlCol="0" anchor="ctr"/>
          <a:lstStyle/>
          <a:p>
            <a:pPr marL="0" indent="0">
              <a:buNone/>
            </a:pPr>
            <a:r>
              <a:rPr lang="en-US" sz="1800" b="1" dirty="0">
                <a:solidFill>
                  <a:srgbClr val="E2A829"/>
                </a:solidFill>
                <a:latin typeface="Cambria" pitchFamily="34" charset="0"/>
                <a:ea typeface="Cambria" pitchFamily="34" charset="-122"/>
                <a:cs typeface="Cambria" pitchFamily="34" charset="-120"/>
              </a:rPr>
              <a:t>02</a:t>
            </a:r>
            <a:endParaRPr lang="en-US" sz="1800" dirty="0"/>
          </a:p>
        </p:txBody>
      </p:sp>
      <p:sp>
        <p:nvSpPr>
          <p:cNvPr id="10" name="Text 8"/>
          <p:cNvSpPr/>
          <p:nvPr/>
        </p:nvSpPr>
        <p:spPr>
          <a:xfrm>
            <a:off x="5440680" y="1188720"/>
            <a:ext cx="333756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April &amp; December Drive Peaks</a:t>
            </a:r>
            <a:endParaRPr lang="en-US" sz="1100" dirty="0"/>
          </a:p>
        </p:txBody>
      </p:sp>
      <p:sp>
        <p:nvSpPr>
          <p:cNvPr id="11" name="Text 9"/>
          <p:cNvSpPr/>
          <p:nvPr/>
        </p:nvSpPr>
        <p:spPr>
          <a:xfrm>
            <a:off x="5440680" y="1463040"/>
            <a:ext cx="3337560" cy="594360"/>
          </a:xfrm>
          <a:prstGeom prst="rect">
            <a:avLst/>
          </a:prstGeom>
          <a:noFill/>
          <a:ln/>
        </p:spPr>
        <p:txBody>
          <a:bodyPr wrap="square" lIns="0" tIns="0" rIns="0" bIns="0" rtlCol="0" anchor="ctr"/>
          <a:lstStyle/>
          <a:p>
            <a:pPr marL="0" indent="0">
              <a:buNone/>
            </a:pPr>
            <a:r>
              <a:rPr lang="en-US" sz="900" dirty="0">
                <a:solidFill>
                  <a:srgbClr val="B8D4C8"/>
                </a:solidFill>
                <a:latin typeface="Calibri" pitchFamily="34" charset="0"/>
                <a:ea typeface="Calibri" pitchFamily="34" charset="-122"/>
                <a:cs typeface="Calibri" pitchFamily="34" charset="-120"/>
              </a:rPr>
              <a:t>Festive periods lift demand by nearly 47% above baseline. Both months appear consistently across both years, confirming these are recurring, predictable events.</a:t>
            </a:r>
            <a:endParaRPr lang="en-US" sz="900" dirty="0"/>
          </a:p>
        </p:txBody>
      </p:sp>
      <p:sp>
        <p:nvSpPr>
          <p:cNvPr id="12" name="Shape 10"/>
          <p:cNvSpPr/>
          <p:nvPr/>
        </p:nvSpPr>
        <p:spPr>
          <a:xfrm>
            <a:off x="320040" y="2377440"/>
            <a:ext cx="4160520" cy="1024128"/>
          </a:xfrm>
          <a:prstGeom prst="roundRect">
            <a:avLst>
              <a:gd name="adj" fmla="val 7143"/>
            </a:avLst>
          </a:prstGeom>
          <a:solidFill>
            <a:srgbClr val="FFFFFF">
              <a:alpha val="10000"/>
            </a:srgbClr>
          </a:solidFill>
          <a:ln w="12700">
            <a:solidFill>
              <a:srgbClr val="E2A829"/>
            </a:solidFill>
            <a:prstDash val="solid"/>
          </a:ln>
        </p:spPr>
      </p:sp>
      <p:sp>
        <p:nvSpPr>
          <p:cNvPr id="13" name="Text 11"/>
          <p:cNvSpPr/>
          <p:nvPr/>
        </p:nvSpPr>
        <p:spPr>
          <a:xfrm>
            <a:off x="457200" y="2487168"/>
            <a:ext cx="502920" cy="384048"/>
          </a:xfrm>
          <a:prstGeom prst="rect">
            <a:avLst/>
          </a:prstGeom>
          <a:noFill/>
          <a:ln/>
        </p:spPr>
        <p:txBody>
          <a:bodyPr wrap="square" lIns="0" tIns="0" rIns="0" bIns="0" rtlCol="0" anchor="ctr"/>
          <a:lstStyle/>
          <a:p>
            <a:pPr marL="0" indent="0">
              <a:buNone/>
            </a:pPr>
            <a:r>
              <a:rPr lang="en-US" sz="1800" b="1" dirty="0">
                <a:solidFill>
                  <a:srgbClr val="E2A829"/>
                </a:solidFill>
                <a:latin typeface="Cambria" pitchFamily="34" charset="0"/>
                <a:ea typeface="Cambria" pitchFamily="34" charset="-122"/>
                <a:cs typeface="Cambria" pitchFamily="34" charset="-120"/>
              </a:rPr>
              <a:t>03</a:t>
            </a:r>
            <a:endParaRPr lang="en-US" sz="1800" dirty="0"/>
          </a:p>
        </p:txBody>
      </p:sp>
      <p:sp>
        <p:nvSpPr>
          <p:cNvPr id="14" name="Text 12"/>
          <p:cNvSpPr/>
          <p:nvPr/>
        </p:nvSpPr>
        <p:spPr>
          <a:xfrm>
            <a:off x="1005840" y="2468880"/>
            <a:ext cx="333756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Stockouts Are Network-Wide</a:t>
            </a:r>
            <a:endParaRPr lang="en-US" sz="1100" dirty="0"/>
          </a:p>
        </p:txBody>
      </p:sp>
      <p:sp>
        <p:nvSpPr>
          <p:cNvPr id="15" name="Text 13"/>
          <p:cNvSpPr/>
          <p:nvPr/>
        </p:nvSpPr>
        <p:spPr>
          <a:xfrm>
            <a:off x="1005840" y="2743200"/>
            <a:ext cx="3337560" cy="594360"/>
          </a:xfrm>
          <a:prstGeom prst="rect">
            <a:avLst/>
          </a:prstGeom>
          <a:noFill/>
          <a:ln/>
        </p:spPr>
        <p:txBody>
          <a:bodyPr wrap="square" lIns="0" tIns="0" rIns="0" bIns="0" rtlCol="0" anchor="ctr"/>
          <a:lstStyle/>
          <a:p>
            <a:pPr marL="0" indent="0">
              <a:buNone/>
            </a:pPr>
            <a:r>
              <a:rPr lang="en-US" sz="900" dirty="0">
                <a:solidFill>
                  <a:srgbClr val="B8D4C8"/>
                </a:solidFill>
                <a:latin typeface="Calibri" pitchFamily="34" charset="0"/>
                <a:ea typeface="Calibri" pitchFamily="34" charset="-122"/>
                <a:cs typeface="Calibri" pitchFamily="34" charset="-120"/>
              </a:rPr>
              <a:t>19,262 stockout events occurred across all 20 products and all 7 stores. Stockout rates hover around 25% regardless of category or location.</a:t>
            </a:r>
            <a:endParaRPr lang="en-US" sz="900" dirty="0"/>
          </a:p>
        </p:txBody>
      </p:sp>
      <p:sp>
        <p:nvSpPr>
          <p:cNvPr id="16" name="Shape 14"/>
          <p:cNvSpPr/>
          <p:nvPr/>
        </p:nvSpPr>
        <p:spPr>
          <a:xfrm>
            <a:off x="4754880" y="2377440"/>
            <a:ext cx="4160520" cy="1024128"/>
          </a:xfrm>
          <a:prstGeom prst="roundRect">
            <a:avLst>
              <a:gd name="adj" fmla="val 7143"/>
            </a:avLst>
          </a:prstGeom>
          <a:solidFill>
            <a:srgbClr val="FFFFFF">
              <a:alpha val="10000"/>
            </a:srgbClr>
          </a:solidFill>
          <a:ln w="12700">
            <a:solidFill>
              <a:srgbClr val="E2A829"/>
            </a:solidFill>
            <a:prstDash val="solid"/>
          </a:ln>
        </p:spPr>
      </p:sp>
      <p:sp>
        <p:nvSpPr>
          <p:cNvPr id="17" name="Text 15"/>
          <p:cNvSpPr/>
          <p:nvPr/>
        </p:nvSpPr>
        <p:spPr>
          <a:xfrm>
            <a:off x="4892040" y="2487168"/>
            <a:ext cx="502920" cy="384048"/>
          </a:xfrm>
          <a:prstGeom prst="rect">
            <a:avLst/>
          </a:prstGeom>
          <a:noFill/>
          <a:ln/>
        </p:spPr>
        <p:txBody>
          <a:bodyPr wrap="square" lIns="0" tIns="0" rIns="0" bIns="0" rtlCol="0" anchor="ctr"/>
          <a:lstStyle/>
          <a:p>
            <a:pPr marL="0" indent="0">
              <a:buNone/>
            </a:pPr>
            <a:r>
              <a:rPr lang="en-US" sz="1800" b="1" dirty="0">
                <a:solidFill>
                  <a:srgbClr val="E2A829"/>
                </a:solidFill>
                <a:latin typeface="Cambria" pitchFamily="34" charset="0"/>
                <a:ea typeface="Cambria" pitchFamily="34" charset="-122"/>
                <a:cs typeface="Cambria" pitchFamily="34" charset="-120"/>
              </a:rPr>
              <a:t>04</a:t>
            </a:r>
            <a:endParaRPr lang="en-US" sz="1800" dirty="0"/>
          </a:p>
        </p:txBody>
      </p:sp>
      <p:sp>
        <p:nvSpPr>
          <p:cNvPr id="18" name="Text 16"/>
          <p:cNvSpPr/>
          <p:nvPr/>
        </p:nvSpPr>
        <p:spPr>
          <a:xfrm>
            <a:off x="5440680" y="2468880"/>
            <a:ext cx="333756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Suppliers Delay 86% of Deliveries</a:t>
            </a:r>
            <a:endParaRPr lang="en-US" sz="1100" dirty="0"/>
          </a:p>
        </p:txBody>
      </p:sp>
      <p:sp>
        <p:nvSpPr>
          <p:cNvPr id="19" name="Text 17"/>
          <p:cNvSpPr/>
          <p:nvPr/>
        </p:nvSpPr>
        <p:spPr>
          <a:xfrm>
            <a:off x="5440680" y="2743200"/>
            <a:ext cx="3337560" cy="594360"/>
          </a:xfrm>
          <a:prstGeom prst="rect">
            <a:avLst/>
          </a:prstGeom>
          <a:noFill/>
          <a:ln/>
        </p:spPr>
        <p:txBody>
          <a:bodyPr wrap="square" lIns="0" tIns="0" rIns="0" bIns="0" rtlCol="0" anchor="ctr"/>
          <a:lstStyle/>
          <a:p>
            <a:pPr marL="0" indent="0">
              <a:buNone/>
            </a:pPr>
            <a:r>
              <a:rPr lang="en-US" sz="900" dirty="0">
                <a:solidFill>
                  <a:srgbClr val="B8D4C8"/>
                </a:solidFill>
                <a:latin typeface="Calibri" pitchFamily="34" charset="0"/>
                <a:ea typeface="Calibri" pitchFamily="34" charset="-122"/>
                <a:cs typeface="Calibri" pitchFamily="34" charset="-120"/>
              </a:rPr>
              <a:t>No supplier achieves consistent on-time delivery. Average delays of 4 days across all partners create persistent uncertainty that current replenishment plans do not account for.</a:t>
            </a:r>
            <a:endParaRPr lang="en-US" sz="900" dirty="0"/>
          </a:p>
        </p:txBody>
      </p:sp>
      <p:sp>
        <p:nvSpPr>
          <p:cNvPr id="20" name="Shape 18"/>
          <p:cNvSpPr/>
          <p:nvPr/>
        </p:nvSpPr>
        <p:spPr>
          <a:xfrm>
            <a:off x="320040" y="3657600"/>
            <a:ext cx="4160520" cy="1024128"/>
          </a:xfrm>
          <a:prstGeom prst="roundRect">
            <a:avLst>
              <a:gd name="adj" fmla="val 7143"/>
            </a:avLst>
          </a:prstGeom>
          <a:solidFill>
            <a:srgbClr val="FFFFFF">
              <a:alpha val="10000"/>
            </a:srgbClr>
          </a:solidFill>
          <a:ln w="12700">
            <a:solidFill>
              <a:srgbClr val="E2A829"/>
            </a:solidFill>
            <a:prstDash val="solid"/>
          </a:ln>
        </p:spPr>
      </p:sp>
      <p:sp>
        <p:nvSpPr>
          <p:cNvPr id="21" name="Text 19"/>
          <p:cNvSpPr/>
          <p:nvPr/>
        </p:nvSpPr>
        <p:spPr>
          <a:xfrm>
            <a:off x="457200" y="3767328"/>
            <a:ext cx="502920" cy="384048"/>
          </a:xfrm>
          <a:prstGeom prst="rect">
            <a:avLst/>
          </a:prstGeom>
          <a:noFill/>
          <a:ln/>
        </p:spPr>
        <p:txBody>
          <a:bodyPr wrap="square" lIns="0" tIns="0" rIns="0" bIns="0" rtlCol="0" anchor="ctr"/>
          <a:lstStyle/>
          <a:p>
            <a:pPr marL="0" indent="0">
              <a:buNone/>
            </a:pPr>
            <a:r>
              <a:rPr lang="en-US" sz="1800" b="1" dirty="0">
                <a:solidFill>
                  <a:srgbClr val="E2A829"/>
                </a:solidFill>
                <a:latin typeface="Cambria" pitchFamily="34" charset="0"/>
                <a:ea typeface="Cambria" pitchFamily="34" charset="-122"/>
                <a:cs typeface="Cambria" pitchFamily="34" charset="-120"/>
              </a:rPr>
              <a:t>05</a:t>
            </a:r>
            <a:endParaRPr lang="en-US" sz="1800" dirty="0"/>
          </a:p>
        </p:txBody>
      </p:sp>
      <p:sp>
        <p:nvSpPr>
          <p:cNvPr id="22" name="Text 20"/>
          <p:cNvSpPr/>
          <p:nvPr/>
        </p:nvSpPr>
        <p:spPr>
          <a:xfrm>
            <a:off x="1005840" y="3749040"/>
            <a:ext cx="333756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Prophet Outperforms Other Models</a:t>
            </a:r>
            <a:endParaRPr lang="en-US" sz="1100" dirty="0"/>
          </a:p>
        </p:txBody>
      </p:sp>
      <p:sp>
        <p:nvSpPr>
          <p:cNvPr id="23" name="Text 21"/>
          <p:cNvSpPr/>
          <p:nvPr/>
        </p:nvSpPr>
        <p:spPr>
          <a:xfrm>
            <a:off x="1005840" y="4023360"/>
            <a:ext cx="3337560" cy="594360"/>
          </a:xfrm>
          <a:prstGeom prst="rect">
            <a:avLst/>
          </a:prstGeom>
          <a:noFill/>
          <a:ln/>
        </p:spPr>
        <p:txBody>
          <a:bodyPr wrap="square" lIns="0" tIns="0" rIns="0" bIns="0" rtlCol="0" anchor="ctr"/>
          <a:lstStyle/>
          <a:p>
            <a:pPr marL="0" indent="0">
              <a:buNone/>
            </a:pPr>
            <a:r>
              <a:rPr lang="en-US" sz="900" dirty="0">
                <a:solidFill>
                  <a:srgbClr val="B8D4C8"/>
                </a:solidFill>
                <a:latin typeface="Calibri" pitchFamily="34" charset="0"/>
                <a:ea typeface="Calibri" pitchFamily="34" charset="-122"/>
                <a:cs typeface="Calibri" pitchFamily="34" charset="-120"/>
              </a:rPr>
              <a:t>Meta Prophet achieved the lowest forecast error in 6 of 7 categories. Its ability to model seasonality and holiday effects makes it the preferred approach for this retail context.</a:t>
            </a:r>
            <a:endParaRPr lang="en-US" sz="900" dirty="0"/>
          </a:p>
        </p:txBody>
      </p:sp>
      <p:sp>
        <p:nvSpPr>
          <p:cNvPr id="24" name="Shape 22"/>
          <p:cNvSpPr/>
          <p:nvPr/>
        </p:nvSpPr>
        <p:spPr>
          <a:xfrm>
            <a:off x="4754880" y="3657600"/>
            <a:ext cx="4160520" cy="1024128"/>
          </a:xfrm>
          <a:prstGeom prst="roundRect">
            <a:avLst>
              <a:gd name="adj" fmla="val 7143"/>
            </a:avLst>
          </a:prstGeom>
          <a:solidFill>
            <a:srgbClr val="FFFFFF">
              <a:alpha val="10000"/>
            </a:srgbClr>
          </a:solidFill>
          <a:ln w="12700">
            <a:solidFill>
              <a:srgbClr val="E2A829"/>
            </a:solidFill>
            <a:prstDash val="solid"/>
          </a:ln>
        </p:spPr>
      </p:sp>
      <p:sp>
        <p:nvSpPr>
          <p:cNvPr id="25" name="Text 23"/>
          <p:cNvSpPr/>
          <p:nvPr/>
        </p:nvSpPr>
        <p:spPr>
          <a:xfrm>
            <a:off x="4892040" y="3767328"/>
            <a:ext cx="502920" cy="384048"/>
          </a:xfrm>
          <a:prstGeom prst="rect">
            <a:avLst/>
          </a:prstGeom>
          <a:noFill/>
          <a:ln/>
        </p:spPr>
        <p:txBody>
          <a:bodyPr wrap="square" lIns="0" tIns="0" rIns="0" bIns="0" rtlCol="0" anchor="ctr"/>
          <a:lstStyle/>
          <a:p>
            <a:pPr marL="0" indent="0">
              <a:buNone/>
            </a:pPr>
            <a:r>
              <a:rPr lang="en-US" sz="1800" b="1" dirty="0">
                <a:solidFill>
                  <a:srgbClr val="E2A829"/>
                </a:solidFill>
                <a:latin typeface="Cambria" pitchFamily="34" charset="0"/>
                <a:ea typeface="Cambria" pitchFamily="34" charset="-122"/>
                <a:cs typeface="Cambria" pitchFamily="34" charset="-120"/>
              </a:rPr>
              <a:t>06</a:t>
            </a:r>
            <a:endParaRPr lang="en-US" sz="1800" dirty="0"/>
          </a:p>
        </p:txBody>
      </p:sp>
      <p:sp>
        <p:nvSpPr>
          <p:cNvPr id="26" name="Text 24"/>
          <p:cNvSpPr/>
          <p:nvPr/>
        </p:nvSpPr>
        <p:spPr>
          <a:xfrm>
            <a:off x="5440680" y="3749040"/>
            <a:ext cx="333756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Entire Portfolio Faces Stock Shortfalls</a:t>
            </a:r>
            <a:endParaRPr lang="en-US" sz="1100" dirty="0"/>
          </a:p>
        </p:txBody>
      </p:sp>
      <p:sp>
        <p:nvSpPr>
          <p:cNvPr id="27" name="Text 25"/>
          <p:cNvSpPr/>
          <p:nvPr/>
        </p:nvSpPr>
        <p:spPr>
          <a:xfrm>
            <a:off x="5440680" y="4023360"/>
            <a:ext cx="3337560" cy="594360"/>
          </a:xfrm>
          <a:prstGeom prst="rect">
            <a:avLst/>
          </a:prstGeom>
          <a:noFill/>
          <a:ln/>
        </p:spPr>
        <p:txBody>
          <a:bodyPr wrap="square" lIns="0" tIns="0" rIns="0" bIns="0" rtlCol="0" anchor="ctr"/>
          <a:lstStyle/>
          <a:p>
            <a:pPr marL="0" indent="0">
              <a:buNone/>
            </a:pPr>
            <a:r>
              <a:rPr lang="en-US" sz="900" dirty="0">
                <a:solidFill>
                  <a:srgbClr val="B8D4C8"/>
                </a:solidFill>
                <a:latin typeface="Calibri" pitchFamily="34" charset="0"/>
                <a:ea typeface="Calibri" pitchFamily="34" charset="-122"/>
                <a:cs typeface="Calibri" pitchFamily="34" charset="-120"/>
              </a:rPr>
              <a:t>All 20 products show negative inventory gaps relative to 30-day forecasted demand. Indomie Noodles, Bread, and Rice require the most urgent replenishment action.</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6E4F"/>
          </a:solidFill>
          <a:ln w="12700">
            <a:solidFill>
              <a:srgbClr val="0B6E4F"/>
            </a:solidFill>
            <a:prstDash val="solid"/>
          </a:ln>
        </p:spPr>
      </p:sp>
      <p:sp>
        <p:nvSpPr>
          <p:cNvPr id="3" name="Text 1"/>
          <p:cNvSpPr/>
          <p:nvPr/>
        </p:nvSpPr>
        <p:spPr>
          <a:xfrm>
            <a:off x="457200" y="164592"/>
            <a:ext cx="8229600" cy="5943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Recommendations</a:t>
            </a:r>
            <a:endParaRPr lang="en-US" sz="3000" dirty="0"/>
          </a:p>
        </p:txBody>
      </p:sp>
      <p:sp>
        <p:nvSpPr>
          <p:cNvPr id="4" name="Shape 2"/>
          <p:cNvSpPr/>
          <p:nvPr/>
        </p:nvSpPr>
        <p:spPr>
          <a:xfrm>
            <a:off x="320040" y="1097280"/>
            <a:ext cx="8503920" cy="822960"/>
          </a:xfrm>
          <a:prstGeom prst="roundRect">
            <a:avLst>
              <a:gd name="adj" fmla="val 8889"/>
            </a:avLst>
          </a:prstGeom>
          <a:solidFill>
            <a:srgbClr val="FFFFFF"/>
          </a:solidFill>
          <a:ln w="12700">
            <a:solidFill>
              <a:srgbClr val="FFFFFF"/>
            </a:solidFill>
            <a:prstDash val="solid"/>
          </a:ln>
          <a:effectLst>
            <a:outerShdw blurRad="101600" dist="38100" dir="2700000" algn="bl" rotWithShape="0">
              <a:srgbClr val="000000">
                <a:alpha val="12000"/>
              </a:srgbClr>
            </a:outerShdw>
          </a:effectLst>
        </p:spPr>
      </p:sp>
      <p:sp>
        <p:nvSpPr>
          <p:cNvPr id="5" name="Shape 3"/>
          <p:cNvSpPr/>
          <p:nvPr/>
        </p:nvSpPr>
        <p:spPr>
          <a:xfrm>
            <a:off x="457200" y="1261872"/>
            <a:ext cx="438912" cy="438912"/>
          </a:xfrm>
          <a:prstGeom prst="ellipse">
            <a:avLst/>
          </a:prstGeom>
          <a:solidFill>
            <a:srgbClr val="0B6E4F"/>
          </a:solidFill>
          <a:ln w="12700">
            <a:solidFill>
              <a:srgbClr val="0B6E4F"/>
            </a:solidFill>
            <a:prstDash val="solid"/>
          </a:ln>
        </p:spPr>
      </p:sp>
      <p:sp>
        <p:nvSpPr>
          <p:cNvPr id="6" name="Text 4"/>
          <p:cNvSpPr/>
          <p:nvPr/>
        </p:nvSpPr>
        <p:spPr>
          <a:xfrm>
            <a:off x="457200" y="1261872"/>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1005840" y="1170432"/>
            <a:ext cx="7635240" cy="274320"/>
          </a:xfrm>
          <a:prstGeom prst="rect">
            <a:avLst/>
          </a:prstGeom>
          <a:noFill/>
          <a:ln/>
        </p:spPr>
        <p:txBody>
          <a:bodyPr wrap="square" lIns="0" tIns="0" rIns="0" bIns="0" rtlCol="0" anchor="ctr"/>
          <a:lstStyle/>
          <a:p>
            <a:pPr marL="0" indent="0">
              <a:buNone/>
            </a:pPr>
            <a:r>
              <a:rPr lang="en-US" sz="1150" b="1" dirty="0">
                <a:solidFill>
                  <a:srgbClr val="0D1B2A"/>
                </a:solidFill>
                <a:latin typeface="Calibri" pitchFamily="34" charset="0"/>
                <a:ea typeface="Calibri" pitchFamily="34" charset="-122"/>
                <a:cs typeface="Calibri" pitchFamily="34" charset="-120"/>
              </a:rPr>
              <a:t>Adopt Prophet for Demand Forecasting</a:t>
            </a:r>
            <a:endParaRPr lang="en-US" sz="1150" dirty="0"/>
          </a:p>
        </p:txBody>
      </p:sp>
      <p:sp>
        <p:nvSpPr>
          <p:cNvPr id="8" name="Text 6"/>
          <p:cNvSpPr/>
          <p:nvPr/>
        </p:nvSpPr>
        <p:spPr>
          <a:xfrm>
            <a:off x="1005840" y="1426464"/>
            <a:ext cx="7635240" cy="411480"/>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Deploy Meta Prophet as the primary forecasting engine for all seven categories. Its native handling of yearly seasonality and Nigerian public holidays brings error rates significantly below ARIMA and Exponential Smoothing across most categories.</a:t>
            </a:r>
            <a:endParaRPr lang="en-US" sz="950" dirty="0"/>
          </a:p>
        </p:txBody>
      </p:sp>
      <p:sp>
        <p:nvSpPr>
          <p:cNvPr id="9" name="Shape 7"/>
          <p:cNvSpPr/>
          <p:nvPr/>
        </p:nvSpPr>
        <p:spPr>
          <a:xfrm>
            <a:off x="320040" y="2029968"/>
            <a:ext cx="8503920" cy="822960"/>
          </a:xfrm>
          <a:prstGeom prst="roundRect">
            <a:avLst>
              <a:gd name="adj" fmla="val 8889"/>
            </a:avLst>
          </a:prstGeom>
          <a:solidFill>
            <a:srgbClr val="FFFFFF"/>
          </a:solidFill>
          <a:ln w="12700">
            <a:solidFill>
              <a:srgbClr val="FFFFFF"/>
            </a:solidFill>
            <a:prstDash val="solid"/>
          </a:ln>
          <a:effectLst>
            <a:outerShdw blurRad="101600" dist="38100" dir="2700000" algn="bl" rotWithShape="0">
              <a:srgbClr val="000000">
                <a:alpha val="12000"/>
              </a:srgbClr>
            </a:outerShdw>
          </a:effectLst>
        </p:spPr>
      </p:sp>
      <p:sp>
        <p:nvSpPr>
          <p:cNvPr id="10" name="Shape 8"/>
          <p:cNvSpPr/>
          <p:nvPr/>
        </p:nvSpPr>
        <p:spPr>
          <a:xfrm>
            <a:off x="457200" y="2194560"/>
            <a:ext cx="438912" cy="438912"/>
          </a:xfrm>
          <a:prstGeom prst="ellipse">
            <a:avLst/>
          </a:prstGeom>
          <a:solidFill>
            <a:srgbClr val="1565C0"/>
          </a:solidFill>
          <a:ln w="12700">
            <a:solidFill>
              <a:srgbClr val="1565C0"/>
            </a:solidFill>
            <a:prstDash val="solid"/>
          </a:ln>
        </p:spPr>
      </p:sp>
      <p:sp>
        <p:nvSpPr>
          <p:cNvPr id="11" name="Text 9"/>
          <p:cNvSpPr/>
          <p:nvPr/>
        </p:nvSpPr>
        <p:spPr>
          <a:xfrm>
            <a:off x="457200" y="2194560"/>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p:nvPr/>
        </p:nvSpPr>
        <p:spPr>
          <a:xfrm>
            <a:off x="1005840" y="2103120"/>
            <a:ext cx="7635240" cy="274320"/>
          </a:xfrm>
          <a:prstGeom prst="rect">
            <a:avLst/>
          </a:prstGeom>
          <a:noFill/>
          <a:ln/>
        </p:spPr>
        <p:txBody>
          <a:bodyPr wrap="square" lIns="0" tIns="0" rIns="0" bIns="0" rtlCol="0" anchor="ctr"/>
          <a:lstStyle/>
          <a:p>
            <a:pPr marL="0" indent="0">
              <a:buNone/>
            </a:pPr>
            <a:r>
              <a:rPr lang="en-US" sz="1150" b="1" dirty="0">
                <a:solidFill>
                  <a:srgbClr val="0D1B2A"/>
                </a:solidFill>
                <a:latin typeface="Calibri" pitchFamily="34" charset="0"/>
                <a:ea typeface="Calibri" pitchFamily="34" charset="-122"/>
                <a:cs typeface="Calibri" pitchFamily="34" charset="-120"/>
              </a:rPr>
              <a:t>Build Seasonal Safety Stock</a:t>
            </a:r>
            <a:endParaRPr lang="en-US" sz="1150" dirty="0"/>
          </a:p>
        </p:txBody>
      </p:sp>
      <p:sp>
        <p:nvSpPr>
          <p:cNvPr id="13" name="Text 11"/>
          <p:cNvSpPr/>
          <p:nvPr/>
        </p:nvSpPr>
        <p:spPr>
          <a:xfrm>
            <a:off x="1005840" y="2359152"/>
            <a:ext cx="7635240" cy="411480"/>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Pre-position 40 to 50% additional inventory for Bread, Indomie Noodles, Rice, and Bakery products ahead of April and December. Failure to pre-stock these periods results in predictable and avoidable stockouts on the highest-revenue products.</a:t>
            </a:r>
            <a:endParaRPr lang="en-US" sz="950" dirty="0"/>
          </a:p>
        </p:txBody>
      </p:sp>
      <p:sp>
        <p:nvSpPr>
          <p:cNvPr id="14" name="Shape 12"/>
          <p:cNvSpPr/>
          <p:nvPr/>
        </p:nvSpPr>
        <p:spPr>
          <a:xfrm>
            <a:off x="320040" y="2962656"/>
            <a:ext cx="8503920" cy="822960"/>
          </a:xfrm>
          <a:prstGeom prst="roundRect">
            <a:avLst>
              <a:gd name="adj" fmla="val 8889"/>
            </a:avLst>
          </a:prstGeom>
          <a:solidFill>
            <a:srgbClr val="FFFFFF"/>
          </a:solidFill>
          <a:ln w="12700">
            <a:solidFill>
              <a:srgbClr val="FFFFFF"/>
            </a:solidFill>
            <a:prstDash val="solid"/>
          </a:ln>
          <a:effectLst>
            <a:outerShdw blurRad="101600" dist="38100" dir="2700000" algn="bl" rotWithShape="0">
              <a:srgbClr val="000000">
                <a:alpha val="12000"/>
              </a:srgbClr>
            </a:outerShdw>
          </a:effectLst>
        </p:spPr>
      </p:sp>
      <p:sp>
        <p:nvSpPr>
          <p:cNvPr id="15" name="Shape 13"/>
          <p:cNvSpPr/>
          <p:nvPr/>
        </p:nvSpPr>
        <p:spPr>
          <a:xfrm>
            <a:off x="457200" y="3127248"/>
            <a:ext cx="438912" cy="438912"/>
          </a:xfrm>
          <a:prstGeom prst="ellipse">
            <a:avLst/>
          </a:prstGeom>
          <a:solidFill>
            <a:srgbClr val="6D4C41"/>
          </a:solidFill>
          <a:ln w="12700">
            <a:solidFill>
              <a:srgbClr val="6D4C41"/>
            </a:solidFill>
            <a:prstDash val="solid"/>
          </a:ln>
        </p:spPr>
      </p:sp>
      <p:sp>
        <p:nvSpPr>
          <p:cNvPr id="16" name="Text 14"/>
          <p:cNvSpPr/>
          <p:nvPr/>
        </p:nvSpPr>
        <p:spPr>
          <a:xfrm>
            <a:off x="457200" y="3127248"/>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p:nvPr/>
        </p:nvSpPr>
        <p:spPr>
          <a:xfrm>
            <a:off x="1005840" y="3035808"/>
            <a:ext cx="7635240" cy="274320"/>
          </a:xfrm>
          <a:prstGeom prst="rect">
            <a:avLst/>
          </a:prstGeom>
          <a:noFill/>
          <a:ln/>
        </p:spPr>
        <p:txBody>
          <a:bodyPr wrap="square" lIns="0" tIns="0" rIns="0" bIns="0" rtlCol="0" anchor="ctr"/>
          <a:lstStyle/>
          <a:p>
            <a:pPr marL="0" indent="0">
              <a:buNone/>
            </a:pPr>
            <a:r>
              <a:rPr lang="en-US" sz="1150" b="1" dirty="0">
                <a:solidFill>
                  <a:srgbClr val="0D1B2A"/>
                </a:solidFill>
                <a:latin typeface="Calibri" pitchFamily="34" charset="0"/>
                <a:ea typeface="Calibri" pitchFamily="34" charset="-122"/>
                <a:cs typeface="Calibri" pitchFamily="34" charset="-120"/>
              </a:rPr>
              <a:t>Adjust Lead Times for Actual Supplier Performance</a:t>
            </a:r>
            <a:endParaRPr lang="en-US" sz="1150" dirty="0"/>
          </a:p>
        </p:txBody>
      </p:sp>
      <p:sp>
        <p:nvSpPr>
          <p:cNvPr id="18" name="Text 16"/>
          <p:cNvSpPr/>
          <p:nvPr/>
        </p:nvSpPr>
        <p:spPr>
          <a:xfrm>
            <a:off x="1005840" y="3291840"/>
            <a:ext cx="7635240" cy="411480"/>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Replace planned delivery dates with empirical lead times that add 4 to 5 buffer days to every supplier order. Reorder points must reflect that 86% of deliveries arrive late, not on schedule.</a:t>
            </a:r>
            <a:endParaRPr lang="en-US" sz="950" dirty="0"/>
          </a:p>
        </p:txBody>
      </p:sp>
      <p:sp>
        <p:nvSpPr>
          <p:cNvPr id="19" name="Shape 17"/>
          <p:cNvSpPr/>
          <p:nvPr/>
        </p:nvSpPr>
        <p:spPr>
          <a:xfrm>
            <a:off x="320040" y="3895344"/>
            <a:ext cx="8503920" cy="822960"/>
          </a:xfrm>
          <a:prstGeom prst="roundRect">
            <a:avLst>
              <a:gd name="adj" fmla="val 8889"/>
            </a:avLst>
          </a:prstGeom>
          <a:solidFill>
            <a:srgbClr val="FFFFFF"/>
          </a:solidFill>
          <a:ln w="12700">
            <a:solidFill>
              <a:srgbClr val="FFFFFF"/>
            </a:solidFill>
            <a:prstDash val="solid"/>
          </a:ln>
          <a:effectLst>
            <a:outerShdw blurRad="101600" dist="38100" dir="2700000" algn="bl" rotWithShape="0">
              <a:srgbClr val="000000">
                <a:alpha val="12000"/>
              </a:srgbClr>
            </a:outerShdw>
          </a:effectLst>
        </p:spPr>
      </p:sp>
      <p:sp>
        <p:nvSpPr>
          <p:cNvPr id="20" name="Shape 18"/>
          <p:cNvSpPr/>
          <p:nvPr/>
        </p:nvSpPr>
        <p:spPr>
          <a:xfrm>
            <a:off x="457200" y="4059936"/>
            <a:ext cx="438912" cy="438912"/>
          </a:xfrm>
          <a:prstGeom prst="ellipse">
            <a:avLst/>
          </a:prstGeom>
          <a:solidFill>
            <a:srgbClr val="C0392B"/>
          </a:solidFill>
          <a:ln w="12700">
            <a:solidFill>
              <a:srgbClr val="C0392B"/>
            </a:solidFill>
            <a:prstDash val="solid"/>
          </a:ln>
        </p:spPr>
      </p:sp>
      <p:sp>
        <p:nvSpPr>
          <p:cNvPr id="21" name="Text 19"/>
          <p:cNvSpPr/>
          <p:nvPr/>
        </p:nvSpPr>
        <p:spPr>
          <a:xfrm>
            <a:off x="457200" y="4059936"/>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p:nvPr/>
        </p:nvSpPr>
        <p:spPr>
          <a:xfrm>
            <a:off x="1005840" y="3968496"/>
            <a:ext cx="7635240" cy="274320"/>
          </a:xfrm>
          <a:prstGeom prst="rect">
            <a:avLst/>
          </a:prstGeom>
          <a:noFill/>
          <a:ln/>
        </p:spPr>
        <p:txBody>
          <a:bodyPr wrap="square" lIns="0" tIns="0" rIns="0" bIns="0" rtlCol="0" anchor="ctr"/>
          <a:lstStyle/>
          <a:p>
            <a:pPr marL="0" indent="0">
              <a:buNone/>
            </a:pPr>
            <a:r>
              <a:rPr lang="en-US" sz="1150" b="1" dirty="0">
                <a:solidFill>
                  <a:srgbClr val="0D1B2A"/>
                </a:solidFill>
                <a:latin typeface="Calibri" pitchFamily="34" charset="0"/>
                <a:ea typeface="Calibri" pitchFamily="34" charset="-122"/>
                <a:cs typeface="Calibri" pitchFamily="34" charset="-120"/>
              </a:rPr>
              <a:t>Priority Replenishment for Critical SKUs</a:t>
            </a:r>
            <a:endParaRPr lang="en-US" sz="1150" dirty="0"/>
          </a:p>
        </p:txBody>
      </p:sp>
      <p:sp>
        <p:nvSpPr>
          <p:cNvPr id="23" name="Text 21"/>
          <p:cNvSpPr/>
          <p:nvPr/>
        </p:nvSpPr>
        <p:spPr>
          <a:xfrm>
            <a:off x="1005840" y="4224528"/>
            <a:ext cx="7635240" cy="411480"/>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Indomie Noodles, Bread, and Rice are simultaneously at critical inventory cover levels across multiple stores. These three products represent the highest-value stockout risk in the network and require immediate restocking action.</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5852160" y="0"/>
            <a:ext cx="3291840" cy="5143500"/>
          </a:xfrm>
          <a:prstGeom prst="rect">
            <a:avLst/>
          </a:prstGeom>
          <a:solidFill>
            <a:srgbClr val="0B6E4F">
              <a:alpha val="80000"/>
            </a:srgbClr>
          </a:solidFill>
          <a:ln w="12700">
            <a:solidFill>
              <a:srgbClr val="0B6E4F"/>
            </a:solidFill>
            <a:prstDash val="solid"/>
          </a:ln>
        </p:spPr>
      </p:sp>
      <p:sp>
        <p:nvSpPr>
          <p:cNvPr id="3" name="Text 1"/>
          <p:cNvSpPr/>
          <p:nvPr/>
        </p:nvSpPr>
        <p:spPr>
          <a:xfrm>
            <a:off x="457200" y="914400"/>
            <a:ext cx="5120640" cy="868680"/>
          </a:xfrm>
          <a:prstGeom prst="rect">
            <a:avLst/>
          </a:prstGeom>
          <a:noFill/>
          <a:ln/>
        </p:spPr>
        <p:txBody>
          <a:bodyPr wrap="square" lIns="0" tIns="0" rIns="0" bIns="0" rtlCol="0" anchor="ctr"/>
          <a:lstStyle/>
          <a:p>
            <a:pPr marL="0" indent="0" algn="l">
              <a:buNone/>
            </a:pPr>
            <a:r>
              <a:rPr lang="en-US" sz="4200" b="1" dirty="0">
                <a:solidFill>
                  <a:srgbClr val="FFFFFF"/>
                </a:solidFill>
                <a:latin typeface="Cambria" pitchFamily="34" charset="0"/>
                <a:ea typeface="Cambria" pitchFamily="34" charset="-122"/>
                <a:cs typeface="Cambria" pitchFamily="34" charset="-120"/>
              </a:rPr>
              <a:t>Thank You</a:t>
            </a:r>
            <a:endParaRPr lang="en-US" sz="4200" dirty="0"/>
          </a:p>
        </p:txBody>
      </p:sp>
      <p:sp>
        <p:nvSpPr>
          <p:cNvPr id="4" name="Shape 2"/>
          <p:cNvSpPr/>
          <p:nvPr/>
        </p:nvSpPr>
        <p:spPr>
          <a:xfrm>
            <a:off x="457200" y="1828800"/>
            <a:ext cx="2286000" cy="54864"/>
          </a:xfrm>
          <a:prstGeom prst="rect">
            <a:avLst/>
          </a:prstGeom>
          <a:solidFill>
            <a:srgbClr val="E2A829"/>
          </a:solidFill>
          <a:ln w="12700">
            <a:solidFill>
              <a:srgbClr val="E2A829"/>
            </a:solidFill>
            <a:prstDash val="solid"/>
          </a:ln>
        </p:spPr>
      </p:sp>
      <p:sp>
        <p:nvSpPr>
          <p:cNvPr id="5" name="Text 3"/>
          <p:cNvSpPr/>
          <p:nvPr/>
        </p:nvSpPr>
        <p:spPr>
          <a:xfrm>
            <a:off x="457200" y="2011680"/>
            <a:ext cx="5074920" cy="2011680"/>
          </a:xfrm>
          <a:prstGeom prst="rect">
            <a:avLst/>
          </a:prstGeom>
          <a:noFill/>
          <a:ln/>
        </p:spPr>
        <p:txBody>
          <a:bodyPr wrap="square" rtlCol="0" anchor="ctr"/>
          <a:lstStyle/>
          <a:p>
            <a:pPr marL="0" indent="0" algn="l">
              <a:buNone/>
            </a:pPr>
            <a:r>
              <a:rPr lang="en-US" sz="1100" dirty="0">
                <a:solidFill>
                  <a:srgbClr val="B8D4C8"/>
                </a:solidFill>
                <a:latin typeface="Calibri" pitchFamily="34" charset="0"/>
                <a:ea typeface="Calibri" pitchFamily="34" charset="-122"/>
                <a:cs typeface="Calibri" pitchFamily="34" charset="-120"/>
              </a:rPr>
              <a:t>This project analysed 18 months of transaction data across 7 FoodMart stores and 20 products in Ibadan, Nigeria. The analysis covers demand behaviour, stockout patterns, supplier reliability, seasonal effects, and product segmentation.</a:t>
            </a:r>
            <a:endParaRPr lang="en-US" sz="1100" dirty="0"/>
          </a:p>
          <a:p>
            <a:pPr marL="0" indent="0" algn="l">
              <a:buNone/>
            </a:pPr>
            <a:endParaRPr lang="en-US" sz="1100" dirty="0"/>
          </a:p>
          <a:p>
            <a:pPr marL="0" indent="0" algn="l">
              <a:buNone/>
            </a:pPr>
            <a:r>
              <a:rPr lang="en-US" sz="1100" dirty="0">
                <a:solidFill>
                  <a:srgbClr val="B8D4C8"/>
                </a:solidFill>
                <a:latin typeface="Calibri" pitchFamily="34" charset="0"/>
                <a:ea typeface="Calibri" pitchFamily="34" charset="-122"/>
                <a:cs typeface="Calibri" pitchFamily="34" charset="-120"/>
              </a:rPr>
              <a:t>Forecast modelling using ARIMA, Exponential Smoothing, and Prophet demonstrates that data-driven inventory planning can substantially reduce the 19,262 stockout events observed during the analysis period.</a:t>
            </a:r>
            <a:endParaRPr lang="en-US" sz="1100" dirty="0"/>
          </a:p>
        </p:txBody>
      </p:sp>
      <p:sp>
        <p:nvSpPr>
          <p:cNvPr id="6" name="Text 4"/>
          <p:cNvSpPr/>
          <p:nvPr/>
        </p:nvSpPr>
        <p:spPr>
          <a:xfrm>
            <a:off x="457200" y="4206240"/>
            <a:ext cx="5029200" cy="347472"/>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Olajimi Adeleke</a:t>
            </a:r>
            <a:endParaRPr lang="en-US" sz="1600" dirty="0"/>
          </a:p>
        </p:txBody>
      </p:sp>
      <p:sp>
        <p:nvSpPr>
          <p:cNvPr id="7" name="Text 5"/>
          <p:cNvSpPr/>
          <p:nvPr/>
        </p:nvSpPr>
        <p:spPr>
          <a:xfrm>
            <a:off x="457200" y="4544568"/>
            <a:ext cx="5029200" cy="256032"/>
          </a:xfrm>
          <a:prstGeom prst="rect">
            <a:avLst/>
          </a:prstGeom>
          <a:noFill/>
          <a:ln/>
        </p:spPr>
        <p:txBody>
          <a:bodyPr wrap="square" lIns="0" tIns="0" rIns="0" bIns="0" rtlCol="0" anchor="ctr"/>
          <a:lstStyle/>
          <a:p>
            <a:pPr marL="0" indent="0">
              <a:buNone/>
            </a:pPr>
            <a:r>
              <a:rPr lang="en-US" sz="1000" dirty="0">
                <a:solidFill>
                  <a:srgbClr val="E2A829"/>
                </a:solidFill>
                <a:latin typeface="Calibri" pitchFamily="34" charset="0"/>
                <a:ea typeface="Calibri" pitchFamily="34" charset="-122"/>
                <a:cs typeface="Calibri" pitchFamily="34" charset="-120"/>
              </a:rPr>
              <a:t>Data Analyst  |  Portfolio Project  |  PostgreSQL &amp; Python</a:t>
            </a:r>
            <a:endParaRPr lang="en-US" sz="1000" dirty="0"/>
          </a:p>
        </p:txBody>
      </p:sp>
      <p:sp>
        <p:nvSpPr>
          <p:cNvPr id="8" name="Text 6"/>
          <p:cNvSpPr/>
          <p:nvPr/>
        </p:nvSpPr>
        <p:spPr>
          <a:xfrm>
            <a:off x="5989320" y="1188720"/>
            <a:ext cx="2834640" cy="347472"/>
          </a:xfrm>
          <a:prstGeom prst="rect">
            <a:avLst/>
          </a:prstGeom>
          <a:noFill/>
          <a:ln/>
        </p:spPr>
        <p:txBody>
          <a:bodyPr wrap="square" rtlCol="0" anchor="ctr"/>
          <a:lstStyle/>
          <a:p>
            <a:pPr marL="0" indent="0" algn="l">
              <a:buNone/>
            </a:pPr>
            <a:r>
              <a:rPr lang="en-US" sz="1100" dirty="0">
                <a:solidFill>
                  <a:srgbClr val="E0F2E9"/>
                </a:solidFill>
                <a:latin typeface="Calibri" pitchFamily="34" charset="0"/>
                <a:ea typeface="Calibri" pitchFamily="34" charset="-122"/>
                <a:cs typeface="Calibri" pitchFamily="34" charset="-120"/>
              </a:rPr>
              <a:t>Tool:   PostgreSQL + Python</a:t>
            </a:r>
            <a:endParaRPr lang="en-US" sz="1100" dirty="0"/>
          </a:p>
        </p:txBody>
      </p:sp>
      <p:sp>
        <p:nvSpPr>
          <p:cNvPr id="9" name="Text 7"/>
          <p:cNvSpPr/>
          <p:nvPr/>
        </p:nvSpPr>
        <p:spPr>
          <a:xfrm>
            <a:off x="5989320" y="1691640"/>
            <a:ext cx="2834640" cy="347472"/>
          </a:xfrm>
          <a:prstGeom prst="rect">
            <a:avLst/>
          </a:prstGeom>
          <a:noFill/>
          <a:ln/>
        </p:spPr>
        <p:txBody>
          <a:bodyPr wrap="square" rtlCol="0" anchor="ctr"/>
          <a:lstStyle/>
          <a:p>
            <a:pPr marL="0" indent="0" algn="l">
              <a:buNone/>
            </a:pPr>
            <a:r>
              <a:rPr lang="en-US" sz="1100" dirty="0">
                <a:solidFill>
                  <a:srgbClr val="E0F2E9"/>
                </a:solidFill>
                <a:latin typeface="Calibri" pitchFamily="34" charset="0"/>
                <a:ea typeface="Calibri" pitchFamily="34" charset="-122"/>
                <a:cs typeface="Calibri" pitchFamily="34" charset="-120"/>
              </a:rPr>
              <a:t>Data:   76,580 transaction records</a:t>
            </a:r>
            <a:endParaRPr lang="en-US" sz="1100" dirty="0"/>
          </a:p>
        </p:txBody>
      </p:sp>
      <p:sp>
        <p:nvSpPr>
          <p:cNvPr id="10" name="Text 8"/>
          <p:cNvSpPr/>
          <p:nvPr/>
        </p:nvSpPr>
        <p:spPr>
          <a:xfrm>
            <a:off x="5989320" y="2194560"/>
            <a:ext cx="2834640" cy="347472"/>
          </a:xfrm>
          <a:prstGeom prst="rect">
            <a:avLst/>
          </a:prstGeom>
          <a:noFill/>
          <a:ln/>
        </p:spPr>
        <p:txBody>
          <a:bodyPr wrap="square" rtlCol="0" anchor="ctr"/>
          <a:lstStyle/>
          <a:p>
            <a:pPr marL="0" indent="0" algn="l">
              <a:buNone/>
            </a:pPr>
            <a:r>
              <a:rPr lang="en-US" sz="1100" dirty="0">
                <a:solidFill>
                  <a:srgbClr val="E0F2E9"/>
                </a:solidFill>
                <a:latin typeface="Calibri" pitchFamily="34" charset="0"/>
                <a:ea typeface="Calibri" pitchFamily="34" charset="-122"/>
                <a:cs typeface="Calibri" pitchFamily="34" charset="-120"/>
              </a:rPr>
              <a:t>Period:   January 2024 to June 2025</a:t>
            </a:r>
            <a:endParaRPr lang="en-US" sz="1100" dirty="0"/>
          </a:p>
        </p:txBody>
      </p:sp>
      <p:sp>
        <p:nvSpPr>
          <p:cNvPr id="11" name="Text 9"/>
          <p:cNvSpPr/>
          <p:nvPr/>
        </p:nvSpPr>
        <p:spPr>
          <a:xfrm>
            <a:off x="5989320" y="2697480"/>
            <a:ext cx="2834640" cy="347472"/>
          </a:xfrm>
          <a:prstGeom prst="rect">
            <a:avLst/>
          </a:prstGeom>
          <a:noFill/>
          <a:ln/>
        </p:spPr>
        <p:txBody>
          <a:bodyPr wrap="square" rtlCol="0" anchor="ctr"/>
          <a:lstStyle/>
          <a:p>
            <a:pPr marL="0" indent="0" algn="l">
              <a:buNone/>
            </a:pPr>
            <a:r>
              <a:rPr lang="en-US" sz="1100" dirty="0">
                <a:solidFill>
                  <a:srgbClr val="E0F2E9"/>
                </a:solidFill>
                <a:latin typeface="Calibri" pitchFamily="34" charset="0"/>
                <a:ea typeface="Calibri" pitchFamily="34" charset="-122"/>
                <a:cs typeface="Calibri" pitchFamily="34" charset="-120"/>
              </a:rPr>
              <a:t>Coverage:   7 stores, 20 products, 7 suppliers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1157</Words>
  <Application>Microsoft Office PowerPoint</Application>
  <PresentationFormat>On-screen Show (16:9)</PresentationFormat>
  <Paragraphs>182</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FoodMart Retail Chain: Demand Forecasting and Inventory Planning</dc:title>
  <dc:subject>PptxGenJS Presentation</dc:subject>
  <dc:creator>Olajimi Adeleke</dc:creator>
  <cp:lastModifiedBy>olajimi adeleke</cp:lastModifiedBy>
  <cp:revision>2</cp:revision>
  <dcterms:created xsi:type="dcterms:W3CDTF">2026-06-14T08:49:21Z</dcterms:created>
  <dcterms:modified xsi:type="dcterms:W3CDTF">2026-06-16T11:02:38Z</dcterms:modified>
</cp:coreProperties>
</file>