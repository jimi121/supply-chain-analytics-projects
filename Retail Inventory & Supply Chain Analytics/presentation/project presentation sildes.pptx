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10.xml" ContentType="application/vnd.openxmlformats-officedocument.presentationml.notesSlide+xml"/>
  <Override PartName="/ppt/charts/chart7.xml" ContentType="application/vnd.openxmlformats-officedocument.drawingml.chart+xml"/>
  <Override PartName="/ppt/notesSlides/notesSlide11.xml" ContentType="application/vnd.openxmlformats-officedocument.presentationml.notesSlide+xml"/>
  <Override PartName="/ppt/charts/chart8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7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D1B2A"/>
                </a:solidFill>
                <a:latin typeface="Arial"/>
              </a:rPr>
              <a:t>Revenue by Product Category (NM)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(NM)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265-4233-BCEC-5B3787F7CB14}"/>
              </c:ext>
            </c:extLst>
          </c:dPt>
          <c:dPt>
            <c:idx val="1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265-4233-BCEC-5B3787F7CB14}"/>
              </c:ext>
            </c:extLst>
          </c:dPt>
          <c:dPt>
            <c:idx val="2"/>
            <c:invertIfNegative val="0"/>
            <c:bubble3D val="0"/>
            <c:spPr>
              <a:solidFill>
                <a:srgbClr val="02B4C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265-4233-BCEC-5B3787F7CB14}"/>
              </c:ext>
            </c:extLst>
          </c:dPt>
          <c:dPt>
            <c:idx val="3"/>
            <c:invertIfNegative val="0"/>
            <c:bubble3D val="0"/>
            <c:spPr>
              <a:solidFill>
                <a:srgbClr val="1A2E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265-4233-BCEC-5B3787F7CB14}"/>
              </c:ext>
            </c:extLst>
          </c:dPt>
          <c:dPt>
            <c:idx val="4"/>
            <c:invertIfNegative val="0"/>
            <c:bubble3D val="0"/>
            <c:spPr>
              <a:solidFill>
                <a:srgbClr val="F4A2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265-4233-BCEC-5B3787F7CB14}"/>
              </c:ext>
            </c:extLst>
          </c:dPt>
          <c:dPt>
            <c:idx val="5"/>
            <c:invertIfNegative val="0"/>
            <c:bubble3D val="0"/>
            <c:spPr>
              <a:solidFill>
                <a:srgbClr val="8FA3B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8265-4233-BCEC-5B3787F7CB1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Beverages</c:v>
                </c:pt>
                <c:pt idx="1">
                  <c:v>Bakery</c:v>
                </c:pt>
                <c:pt idx="2">
                  <c:v>Frozen Foods</c:v>
                </c:pt>
                <c:pt idx="3">
                  <c:v>Toiletries</c:v>
                </c:pt>
                <c:pt idx="4">
                  <c:v>Dairy</c:v>
                </c:pt>
                <c:pt idx="5">
                  <c:v>Household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14.4</c:v>
                </c:pt>
                <c:pt idx="1">
                  <c:v>11.8</c:v>
                </c:pt>
                <c:pt idx="2">
                  <c:v>10.8</c:v>
                </c:pt>
                <c:pt idx="3">
                  <c:v>7.5</c:v>
                </c:pt>
                <c:pt idx="4">
                  <c:v>6</c:v>
                </c:pt>
                <c:pt idx="5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8265-4233-BCEC-5B3787F7CB1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D3E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C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8FA3B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D1B2A"/>
                </a:solidFill>
                <a:latin typeface="Arial"/>
              </a:rPr>
              <a:t>Inventory Health Distribution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Stock Health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6283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4A9-4F62-A500-B66819ED8807}"/>
              </c:ext>
            </c:extLst>
          </c:dPt>
          <c:dPt>
            <c:idx val="1"/>
            <c:bubble3D val="0"/>
            <c:spPr>
              <a:solidFill>
                <a:srgbClr val="E896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4A9-4F62-A500-B66819ED8807}"/>
              </c:ext>
            </c:extLst>
          </c:dPt>
          <c:dPt>
            <c:idx val="2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4A9-4F62-A500-B66819ED8807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4A9-4F62-A500-B66819ED8807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4A9-4F62-A500-B66819ED8807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4A9-4F62-A500-B66819ED880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Critical (458)</c:v>
                </c:pt>
                <c:pt idx="1">
                  <c:v>Low Stock (384)</c:v>
                </c:pt>
                <c:pt idx="2">
                  <c:v>Healthy (37)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458</c:v>
                </c:pt>
                <c:pt idx="1">
                  <c:v>384</c:v>
                </c:pt>
                <c:pt idx="2">
                  <c:v>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4A9-4F62-A500-B66819ED88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D3E5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D1B2A"/>
                </a:solidFill>
                <a:latin typeface="Arial"/>
              </a:rPr>
              <a:t>Stockout Rate by Store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Stockout Rate %</c:v>
                </c:pt>
              </c:strCache>
            </c:strRef>
          </c:tx>
          <c:spPr>
            <a:solidFill>
              <a:srgbClr val="D6283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BCD-48A0-A16E-24C60F3BAE35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EBCD-48A0-A16E-24C60F3BAE35}"/>
              </c:ext>
            </c:extLst>
          </c:dPt>
          <c:dPt>
            <c:idx val="2"/>
            <c:invertIfNegative val="0"/>
            <c:bubble3D val="0"/>
            <c:spPr>
              <a:solidFill>
                <a:srgbClr val="E896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BCD-48A0-A16E-24C60F3BAE35}"/>
              </c:ext>
            </c:extLst>
          </c:dPt>
          <c:dPt>
            <c:idx val="3"/>
            <c:invertIfNegative val="0"/>
            <c:bubble3D val="0"/>
            <c:spPr>
              <a:solidFill>
                <a:srgbClr val="E896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BCD-48A0-A16E-24C60F3BAE35}"/>
              </c:ext>
            </c:extLst>
          </c:dPt>
          <c:dPt>
            <c:idx val="4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BCD-48A0-A16E-24C60F3BAE3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FoodCo Jericho</c:v>
                </c:pt>
                <c:pt idx="1">
                  <c:v>FoodCo Akobo</c:v>
                </c:pt>
                <c:pt idx="2">
                  <c:v>FoodCo Ring Road</c:v>
                </c:pt>
                <c:pt idx="3">
                  <c:v>FoodCo Bodija</c:v>
                </c:pt>
                <c:pt idx="4">
                  <c:v>FoodCo Mokola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40.799999999999997</c:v>
                </c:pt>
                <c:pt idx="1">
                  <c:v>40.4</c:v>
                </c:pt>
                <c:pt idx="2">
                  <c:v>37.9</c:v>
                </c:pt>
                <c:pt idx="3">
                  <c:v>36.299999999999997</c:v>
                </c:pt>
                <c:pt idx="4">
                  <c:v>35.4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BCD-48A0-A16E-24C60F3BAE3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D3E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4EC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FA3B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D1B2A"/>
                </a:solidFill>
                <a:latin typeface="Arial"/>
              </a:rPr>
              <a:t>Expired Products % by Category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Expiry Risk %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851-468E-83F0-C349204A1A2A}"/>
              </c:ext>
            </c:extLst>
          </c:dPt>
          <c:dPt>
            <c:idx val="1"/>
            <c:invertIfNegative val="0"/>
            <c:bubble3D val="0"/>
            <c:spPr>
              <a:solidFill>
                <a:srgbClr val="D6283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851-468E-83F0-C349204A1A2A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6851-468E-83F0-C349204A1A2A}"/>
              </c:ext>
            </c:extLst>
          </c:dPt>
          <c:dPt>
            <c:idx val="3"/>
            <c:invertIfNegative val="0"/>
            <c:bubble3D val="0"/>
            <c:spPr>
              <a:solidFill>
                <a:srgbClr val="E896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851-468E-83F0-C349204A1A2A}"/>
              </c:ext>
            </c:extLst>
          </c:dPt>
          <c:dPt>
            <c:idx val="4"/>
            <c:invertIfNegative val="0"/>
            <c:bubble3D val="0"/>
            <c:spPr>
              <a:solidFill>
                <a:srgbClr val="D6283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851-468E-83F0-C349204A1A2A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6851-468E-83F0-C349204A1A2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Beverages</c:v>
                </c:pt>
                <c:pt idx="1">
                  <c:v>Frozen Foods</c:v>
                </c:pt>
                <c:pt idx="2">
                  <c:v>Toiletries</c:v>
                </c:pt>
                <c:pt idx="3">
                  <c:v>Bakery</c:v>
                </c:pt>
                <c:pt idx="4">
                  <c:v>Dairy</c:v>
                </c:pt>
                <c:pt idx="5">
                  <c:v>Household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28.89</c:v>
                </c:pt>
                <c:pt idx="2">
                  <c:v>0</c:v>
                </c:pt>
                <c:pt idx="3">
                  <c:v>27.22</c:v>
                </c:pt>
                <c:pt idx="4">
                  <c:v>22.08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6851-468E-83F0-C349204A1A2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D3E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C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8FA3B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D1B2A"/>
                </a:solidFill>
                <a:latin typeface="Arial"/>
              </a:rPr>
              <a:t>Supplier Lead Time (Days)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Lead Time (Days)</c:v>
                </c:pt>
              </c:strCache>
            </c:strRef>
          </c:tx>
          <c:spPr>
            <a:solidFill>
              <a:srgbClr val="D6283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18F-4AD7-AAAF-2E2923E049C8}"/>
              </c:ext>
            </c:extLst>
          </c:dPt>
          <c:dPt>
            <c:idx val="1"/>
            <c:invertIfNegative val="0"/>
            <c:bubble3D val="0"/>
            <c:spPr>
              <a:solidFill>
                <a:srgbClr val="E896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18F-4AD7-AAAF-2E2923E049C8}"/>
              </c:ext>
            </c:extLst>
          </c:dPt>
          <c:dPt>
            <c:idx val="2"/>
            <c:invertIfNegative val="0"/>
            <c:bubble3D val="0"/>
            <c:spPr>
              <a:solidFill>
                <a:srgbClr val="E896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18F-4AD7-AAAF-2E2923E049C8}"/>
              </c:ext>
            </c:extLst>
          </c:dPt>
          <c:dPt>
            <c:idx val="3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18F-4AD7-AAAF-2E2923E049C8}"/>
              </c:ext>
            </c:extLst>
          </c:dPt>
          <c:dPt>
            <c:idx val="4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18F-4AD7-AAAF-2E2923E049C8}"/>
              </c:ext>
            </c:extLst>
          </c:dPt>
          <c:dPt>
            <c:idx val="5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618F-4AD7-AAAF-2E2923E049C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CoolFresh</c:v>
                </c:pt>
                <c:pt idx="1">
                  <c:v>Chi Limited</c:v>
                </c:pt>
                <c:pt idx="2">
                  <c:v>Daily Dairy</c:v>
                </c:pt>
                <c:pt idx="3">
                  <c:v>Prime HH</c:v>
                </c:pt>
                <c:pt idx="4">
                  <c:v>Dangote</c:v>
                </c:pt>
                <c:pt idx="5">
                  <c:v>FreshBake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</c:v>
                </c:pt>
                <c:pt idx="1">
                  <c:v>6</c:v>
                </c:pt>
                <c:pt idx="2">
                  <c:v>5</c:v>
                </c:pt>
                <c:pt idx="3">
                  <c:v>4</c:v>
                </c:pt>
                <c:pt idx="4">
                  <c:v>3</c:v>
                </c:pt>
                <c:pt idx="5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618F-4AD7-AAAF-2E2923E049C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D3E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C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3B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D1B2A"/>
                </a:solidFill>
                <a:latin typeface="Arial"/>
              </a:rPr>
              <a:t>Supplier Damage Rate (Avg Units)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Damaged Units</c:v>
                </c:pt>
              </c:strCache>
            </c:strRef>
          </c:tx>
          <c:spPr>
            <a:solidFill>
              <a:srgbClr val="D6283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4AA-4197-A2DD-C07D6CF6FF41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74AA-4197-A2DD-C07D6CF6FF41}"/>
              </c:ext>
            </c:extLst>
          </c:dPt>
          <c:dPt>
            <c:idx val="2"/>
            <c:invertIfNegative val="0"/>
            <c:bubble3D val="0"/>
            <c:spPr>
              <a:solidFill>
                <a:srgbClr val="E896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4AA-4197-A2DD-C07D6CF6FF41}"/>
              </c:ext>
            </c:extLst>
          </c:dPt>
          <c:dPt>
            <c:idx val="3"/>
            <c:invertIfNegative val="0"/>
            <c:bubble3D val="0"/>
            <c:spPr>
              <a:solidFill>
                <a:srgbClr val="E896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4AA-4197-A2DD-C07D6CF6FF41}"/>
              </c:ext>
            </c:extLst>
          </c:dPt>
          <c:dPt>
            <c:idx val="4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4AA-4197-A2DD-C07D6CF6FF41}"/>
              </c:ext>
            </c:extLst>
          </c:dPt>
          <c:dPt>
            <c:idx val="5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74AA-4197-A2DD-C07D6CF6FF4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FreshBake</c:v>
                </c:pt>
                <c:pt idx="1">
                  <c:v>CoolFresh</c:v>
                </c:pt>
                <c:pt idx="2">
                  <c:v>Dangote</c:v>
                </c:pt>
                <c:pt idx="3">
                  <c:v>Prime HH</c:v>
                </c:pt>
                <c:pt idx="4">
                  <c:v>Chi Ltd</c:v>
                </c:pt>
                <c:pt idx="5">
                  <c:v>Daily Dairy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4.3</c:v>
                </c:pt>
                <c:pt idx="1">
                  <c:v>4.3</c:v>
                </c:pt>
                <c:pt idx="2">
                  <c:v>4.0999999999999996</c:v>
                </c:pt>
                <c:pt idx="3">
                  <c:v>4</c:v>
                </c:pt>
                <c:pt idx="4">
                  <c:v>3.6</c:v>
                </c:pt>
                <c:pt idx="5">
                  <c:v>3.6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74AA-4197-A2DD-C07D6CF6FF4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3E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C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3B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D1B2A"/>
                </a:solidFill>
                <a:latin typeface="Arial"/>
              </a:rPr>
              <a:t>Most Over-Ordered Products (Restock Divided by Sales)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Restock-to-Sales Ratio</c:v>
                </c:pt>
              </c:strCache>
            </c:strRef>
          </c:tx>
          <c:spPr>
            <a:solidFill>
              <a:srgbClr val="D6283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D4F-4BAC-AF5F-2FFB7D3CBE53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CD4F-4BAC-AF5F-2FFB7D3CBE53}"/>
              </c:ext>
            </c:extLst>
          </c:dPt>
          <c:dPt>
            <c:idx val="2"/>
            <c:invertIfNegative val="0"/>
            <c:bubble3D val="0"/>
            <c:spPr>
              <a:solidFill>
                <a:srgbClr val="E896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D4F-4BAC-AF5F-2FFB7D3CBE53}"/>
              </c:ext>
            </c:extLst>
          </c:dPt>
          <c:dPt>
            <c:idx val="3"/>
            <c:invertIfNegative val="0"/>
            <c:bubble3D val="0"/>
            <c:spPr>
              <a:solidFill>
                <a:srgbClr val="E896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D4F-4BAC-AF5F-2FFB7D3CBE53}"/>
              </c:ext>
            </c:extLst>
          </c:dPt>
          <c:dPt>
            <c:idx val="4"/>
            <c:invertIfNegative val="0"/>
            <c:bubble3D val="0"/>
            <c:spPr>
              <a:solidFill>
                <a:srgbClr val="E896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D4F-4BAC-AF5F-2FFB7D3CBE53}"/>
              </c:ext>
            </c:extLst>
          </c:dPt>
          <c:dPt>
            <c:idx val="5"/>
            <c:invertIfNegative val="0"/>
            <c:bubble3D val="0"/>
            <c:spPr>
              <a:solidFill>
                <a:srgbClr val="F4A2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CD4F-4BAC-AF5F-2FFB7D3CBE53}"/>
              </c:ext>
            </c:extLst>
          </c:dPt>
          <c:dPt>
            <c:idx val="6"/>
            <c:invertIfNegative val="0"/>
            <c:bubble3D val="0"/>
            <c:spPr>
              <a:solidFill>
                <a:srgbClr val="F4A2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CD4F-4BAC-AF5F-2FFB7D3CBE53}"/>
              </c:ext>
            </c:extLst>
          </c:dPt>
          <c:dPt>
            <c:idx val="7"/>
            <c:invertIfNegative val="0"/>
            <c:bubble3D val="0"/>
            <c:spPr>
              <a:solidFill>
                <a:srgbClr val="F4A2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CD4F-4BAC-AF5F-2FFB7D3CBE53}"/>
              </c:ext>
            </c:extLst>
          </c:dPt>
          <c:dPt>
            <c:idx val="8"/>
            <c:invertIfNegative val="0"/>
            <c:bubble3D val="0"/>
            <c:spPr>
              <a:solidFill>
                <a:srgbClr val="F4A2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CD4F-4BAC-AF5F-2FFB7D3CBE53}"/>
              </c:ext>
            </c:extLst>
          </c:dPt>
          <c:dPt>
            <c:idx val="9"/>
            <c:invertIfNegative val="0"/>
            <c:bubble3D val="0"/>
            <c:spPr>
              <a:solidFill>
                <a:srgbClr val="F4A2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CD4F-4BAC-AF5F-2FFB7D3CBE5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Butter</c:v>
                </c:pt>
                <c:pt idx="1">
                  <c:v>Biscuits</c:v>
                </c:pt>
                <c:pt idx="2">
                  <c:v>Cheese</c:v>
                </c:pt>
                <c:pt idx="3">
                  <c:v>Frozen Fish</c:v>
                </c:pt>
                <c:pt idx="4">
                  <c:v>Soap</c:v>
                </c:pt>
                <c:pt idx="5">
                  <c:v>Air Freshener</c:v>
                </c:pt>
                <c:pt idx="6">
                  <c:v>Shampoo</c:v>
                </c:pt>
                <c:pt idx="7">
                  <c:v>Sausage</c:v>
                </c:pt>
                <c:pt idx="8">
                  <c:v>Ice Cream</c:v>
                </c:pt>
                <c:pt idx="9">
                  <c:v>Toothpaste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5.5</c:v>
                </c:pt>
                <c:pt idx="1">
                  <c:v>3.9</c:v>
                </c:pt>
                <c:pt idx="2">
                  <c:v>3.2</c:v>
                </c:pt>
                <c:pt idx="3">
                  <c:v>3.1</c:v>
                </c:pt>
                <c:pt idx="4">
                  <c:v>3.1</c:v>
                </c:pt>
                <c:pt idx="5">
                  <c:v>3</c:v>
                </c:pt>
                <c:pt idx="6">
                  <c:v>2.8</c:v>
                </c:pt>
                <c:pt idx="7">
                  <c:v>2.8</c:v>
                </c:pt>
                <c:pt idx="8">
                  <c:v>2.4</c:v>
                </c:pt>
                <c:pt idx="9">
                  <c:v>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CD4F-4BAC-AF5F-2FFB7D3CBE5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D3E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4EC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8FA3B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D1B2A"/>
                </a:solidFill>
                <a:latin typeface="Arial"/>
              </a:rPr>
              <a:t>Promo vs No-Promo Revenue by Category (NM)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Promo Revenue (NM)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Beverages</c:v>
                </c:pt>
                <c:pt idx="1">
                  <c:v>Bakery</c:v>
                </c:pt>
                <c:pt idx="2">
                  <c:v>Frozen Foods</c:v>
                </c:pt>
                <c:pt idx="3">
                  <c:v>Toiletries</c:v>
                </c:pt>
                <c:pt idx="4">
                  <c:v>Dairy</c:v>
                </c:pt>
                <c:pt idx="5">
                  <c:v>Household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7.5</c:v>
                </c:pt>
                <c:pt idx="1">
                  <c:v>6.2</c:v>
                </c:pt>
                <c:pt idx="2">
                  <c:v>5.6</c:v>
                </c:pt>
                <c:pt idx="3">
                  <c:v>3.9</c:v>
                </c:pt>
                <c:pt idx="4">
                  <c:v>2.8</c:v>
                </c:pt>
                <c:pt idx="5">
                  <c:v>1.9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F21-48C9-99AD-6555E2B1F1B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 Promo Revenue (NM)</c:v>
                </c:pt>
              </c:strCache>
            </c:strRef>
          </c:tx>
          <c:spPr>
            <a:solidFill>
              <a:srgbClr val="8FA3B1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Beverages</c:v>
                </c:pt>
                <c:pt idx="1">
                  <c:v>Bakery</c:v>
                </c:pt>
                <c:pt idx="2">
                  <c:v>Frozen Foods</c:v>
                </c:pt>
                <c:pt idx="3">
                  <c:v>Toiletries</c:v>
                </c:pt>
                <c:pt idx="4">
                  <c:v>Dairy</c:v>
                </c:pt>
                <c:pt idx="5">
                  <c:v>Household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6.9</c:v>
                </c:pt>
                <c:pt idx="1">
                  <c:v>5.6</c:v>
                </c:pt>
                <c:pt idx="2">
                  <c:v>5.2</c:v>
                </c:pt>
                <c:pt idx="3">
                  <c:v>3.6</c:v>
                </c:pt>
                <c:pt idx="4">
                  <c:v>3.2</c:v>
                </c:pt>
                <c:pt idx="5">
                  <c:v>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F21-48C9-99AD-6555E2B1F1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D3E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C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8FA3B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7829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kedin.com/in/olajimi-adeleke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jimi121.github.io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4434840"/>
            <a:ext cx="8961120" cy="7086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</a:rPr>
              <a:t>Retail Inventory &amp;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02B4CC"/>
                </a:solidFill>
              </a:rPr>
              <a:t>Supply Chain Analytics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8FA3B1"/>
                </a:solidFill>
              </a:rPr>
              <a:t>A business analytics project exploring inventory health, stockout risk,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8FA3B1"/>
                </a:solidFill>
              </a:rPr>
              <a:t>supplier performance, and profitability across a simulated multi-store retail operation.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1600200" cy="329184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20040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PostgreSQL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77440" y="3200400"/>
            <a:ext cx="1600200" cy="329184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77440" y="320040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Power BI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06240" y="3200400"/>
            <a:ext cx="1600200" cy="329184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320040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DAX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35040" y="3200400"/>
            <a:ext cx="1600200" cy="329184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320040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Excel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4507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FA3B1"/>
                </a:solidFill>
              </a:rPr>
              <a:t>Olajimi Adeleke   |   Ibadan, Nigeria   | 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645920" cy="25603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OVERVIEW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</a:rPr>
              <a:t>Project Overview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8FA3B1"/>
                </a:solidFill>
              </a:rPr>
              <a:t>What this project is about and what it set out to answer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8229600" cy="22860"/>
          </a:xfrm>
          <a:prstGeom prst="rect">
            <a:avLst/>
          </a:prstGeom>
          <a:solidFill>
            <a:srgbClr val="E4ECF2"/>
          </a:solidFill>
          <a:ln w="12700">
            <a:solidFill>
              <a:srgbClr val="E4EC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44752"/>
            <a:ext cx="2633472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44752"/>
            <a:ext cx="2633472" cy="594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572768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</a:rPr>
              <a:t>The Context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" y="1938528"/>
            <a:ext cx="230428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E50"/>
                </a:solidFill>
              </a:rPr>
              <a:t>Simulated a multi-store retail grocery dataset modelled on how a business like FoodCo operates. Five stores, six product categories, six suppliers.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73552" y="1444752"/>
            <a:ext cx="2633472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73552" y="1444752"/>
            <a:ext cx="2633472" cy="5943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38144" y="1572768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</a:rPr>
              <a:t>The Objective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38144" y="1938528"/>
            <a:ext cx="230428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E50"/>
                </a:solidFill>
              </a:rPr>
              <a:t>Use real data analysis to find where the business is losing money through stockouts, expiry waste, over-ordering, and supplier problems.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89904" y="1444752"/>
            <a:ext cx="2633472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9904" y="1444752"/>
            <a:ext cx="2633472" cy="5943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54496" y="1572768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</a:rPr>
              <a:t>The Deliverable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54496" y="1938528"/>
            <a:ext cx="230428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E50"/>
                </a:solidFill>
              </a:rPr>
              <a:t>SQL business analysis in PostgreSQL and a four-page interactive Power BI dashboard built to drive real operational decisions.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233672"/>
            <a:ext cx="9144000" cy="90982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233672"/>
            <a:ext cx="164592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 Stores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965960" y="4416552"/>
            <a:ext cx="0" cy="548640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11680" y="4233672"/>
            <a:ext cx="164592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 Product Categories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703320" y="4416552"/>
            <a:ext cx="0" cy="548640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49040" y="4233672"/>
            <a:ext cx="164592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 Suppliers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40680" y="4416552"/>
            <a:ext cx="0" cy="548640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0" y="4233672"/>
            <a:ext cx="164592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7 Business Analyses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178040" y="4416552"/>
            <a:ext cx="0" cy="548640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23760" y="4233672"/>
            <a:ext cx="164592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 Dashboard Pages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645920" cy="256032"/>
          </a:xfrm>
          <a:prstGeom prst="rec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THE 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</a:rPr>
              <a:t>The Business Problems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8FA3B1"/>
                </a:solidFill>
              </a:rPr>
              <a:t>Six real operational challenges this project was built to address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8229600" cy="22860"/>
          </a:xfrm>
          <a:prstGeom prst="rect">
            <a:avLst/>
          </a:prstGeom>
          <a:solidFill>
            <a:srgbClr val="E4ECF2"/>
          </a:solidFill>
          <a:ln w="12700">
            <a:solidFill>
              <a:srgbClr val="E4EC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89888"/>
            <a:ext cx="8229600" cy="5486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38988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</a:rPr>
              <a:t>"A customer walks in; the shelf is empty. That sale is gone. Meanwhile in the stockroom, 300 products are quietly expiring."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130552"/>
            <a:ext cx="263347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130552"/>
            <a:ext cx="59436" cy="1097280"/>
          </a:xfrm>
          <a:prstGeom prst="rec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22199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D62839"/>
                </a:solidFill>
              </a:rPr>
              <a:t>01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21792" y="2404872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</a:rPr>
              <a:t>High Stockout Rate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" y="2660904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D3E50"/>
                </a:solidFill>
              </a:rPr>
              <a:t>38.2% of products go out of stock regularly, costing the business lost sales every single week.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73552" y="2130552"/>
            <a:ext cx="263347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73552" y="2130552"/>
            <a:ext cx="59436" cy="1097280"/>
          </a:xfrm>
          <a:prstGeom prst="rect">
            <a:avLst/>
          </a:prstGeom>
          <a:solidFill>
            <a:srgbClr val="E8963A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38144" y="222199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8963A"/>
                </a:solidFill>
              </a:rPr>
              <a:t>02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438144" y="2404872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</a:rPr>
              <a:t>Expiry Losses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38144" y="2660904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D3E50"/>
                </a:solidFill>
              </a:rPr>
              <a:t>154 products already expired. 301 more expiring in 30 days. Mostly Dairy and Frozen Foods.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89904" y="2130552"/>
            <a:ext cx="263347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89904" y="2130552"/>
            <a:ext cx="59436" cy="10972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54496" y="222199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4A261"/>
                </a:solidFill>
              </a:rPr>
              <a:t>03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254496" y="2404872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</a:rPr>
              <a:t>Over-Ordering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54496" y="2660904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D3E50"/>
                </a:solidFill>
              </a:rPr>
              <a:t>Some products restocked at 5x their sales rate, wasting money and filling storage unnecessarily.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3392424"/>
            <a:ext cx="263347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392424"/>
            <a:ext cx="59436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" y="348386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28090"/>
                </a:solidFill>
              </a:rPr>
              <a:t>04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21792" y="3666744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</a:rPr>
              <a:t>Supplier Damage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1792" y="392277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D3E50"/>
                </a:solidFill>
              </a:rPr>
              <a:t>Fragile products arriving damaged, creating unexpected gaps on shelves with no warning.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73552" y="3392424"/>
            <a:ext cx="263347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73552" y="3392424"/>
            <a:ext cx="59436" cy="109728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38144" y="348386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2E4A"/>
                </a:solidFill>
              </a:rPr>
              <a:t>05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438144" y="3666744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</a:rPr>
              <a:t>Critical Inventory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438144" y="392277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D3E50"/>
                </a:solidFill>
              </a:rPr>
              <a:t>458 products at critical stock levels with only 1 to 4 days of coverage remaining.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089904" y="3392424"/>
            <a:ext cx="263347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89904" y="3392424"/>
            <a:ext cx="59436" cy="1097280"/>
          </a:xfrm>
          <a:prstGeom prst="rect">
            <a:avLst/>
          </a:prstGeom>
          <a:solidFill>
            <a:srgbClr val="8FA3B1"/>
          </a:solidFill>
          <a:ln w="12700">
            <a:solidFill>
              <a:srgbClr val="8FA3B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54496" y="348386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8FA3B1"/>
                </a:solidFill>
              </a:rPr>
              <a:t>06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254496" y="3666744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</a:rPr>
              <a:t>Weak Promotions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254496" y="392277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D3E50"/>
                </a:solidFill>
              </a:rPr>
              <a:t>Promotions are running across all categories but generating very little additional revenue.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64592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METHODOLOGY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</a:rPr>
              <a:t>Dataset &amp; Methodology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8FA3B1"/>
                </a:solidFill>
              </a:rPr>
              <a:t>How the data was structured and how the analysis was built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8229600" cy="22860"/>
          </a:xfrm>
          <a:prstGeom prst="rect">
            <a:avLst/>
          </a:prstGeom>
          <a:solidFill>
            <a:srgbClr val="E4ECF2"/>
          </a:solidFill>
          <a:ln w="12700">
            <a:solidFill>
              <a:srgbClr val="E4EC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4475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28090"/>
                </a:solidFill>
              </a:rPr>
              <a:t>DATA TABLES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719072"/>
            <a:ext cx="3931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719072"/>
            <a:ext cx="59436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78308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1792" y="201168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D3E50"/>
                </a:solidFill>
              </a:rPr>
              <a:t>Product names, categories, and pricing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432304"/>
            <a:ext cx="3931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432304"/>
            <a:ext cx="59436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49631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1792" y="272491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D3E50"/>
                </a:solidFill>
              </a:rPr>
              <a:t>Five store locations and identifiers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145536"/>
            <a:ext cx="3931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145536"/>
            <a:ext cx="59436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320954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suppliers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1792" y="343814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D3E50"/>
                </a:solidFill>
              </a:rPr>
              <a:t>Supplier info and lead time data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858768"/>
            <a:ext cx="3931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858768"/>
            <a:ext cx="59436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392277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inventory_supply_chain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1792" y="415137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D3E50"/>
                </a:solidFill>
              </a:rPr>
              <a:t>Main fact table: stock, sales, expiry, replenishment, damage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54880" y="144475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28090"/>
                </a:solidFill>
              </a:rPr>
              <a:t>ANALYTICAL WORKFLOW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754880" y="1810512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46904" y="2194560"/>
            <a:ext cx="0" cy="237744"/>
          </a:xfrm>
          <a:prstGeom prst="line">
            <a:avLst/>
          </a:prstGeom>
          <a:noFill/>
          <a:ln w="19050">
            <a:solidFill>
              <a:srgbClr val="02809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5257800" y="181051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</a:rPr>
              <a:t>Raw CSV Files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57800" y="202996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FA3B1"/>
                </a:solidFill>
              </a:rPr>
              <a:t>Four datasets prepared and staged in Excel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2432304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2432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946904" y="2816352"/>
            <a:ext cx="0" cy="237744"/>
          </a:xfrm>
          <a:prstGeom prst="line">
            <a:avLst/>
          </a:prstGeom>
          <a:noFill/>
          <a:ln w="19050">
            <a:solidFill>
              <a:srgbClr val="02809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5257800" y="243230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</a:rPr>
              <a:t>PostgreSQL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57800" y="26517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FA3B1"/>
                </a:solidFill>
              </a:rPr>
              <a:t>Schema design, data loading, and cleaning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54880" y="3054096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3054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946904" y="3438144"/>
            <a:ext cx="0" cy="237744"/>
          </a:xfrm>
          <a:prstGeom prst="line">
            <a:avLst/>
          </a:prstGeom>
          <a:noFill/>
          <a:ln w="19050">
            <a:solidFill>
              <a:srgbClr val="028090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5257800" y="30540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</a:rPr>
              <a:t>7 Business Queries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57800" y="327355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FA3B1"/>
                </a:solidFill>
              </a:rPr>
              <a:t>SQL analysis across seven operational areas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54880" y="3675888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3675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946904" y="4059936"/>
            <a:ext cx="0" cy="237744"/>
          </a:xfrm>
          <a:prstGeom prst="line">
            <a:avLst/>
          </a:prstGeom>
          <a:noFill/>
          <a:ln w="19050">
            <a:solidFill>
              <a:srgbClr val="028090"/>
            </a:solidFill>
            <a:prstDash val="dash"/>
          </a:ln>
        </p:spPr>
      </p:sp>
      <p:sp>
        <p:nvSpPr>
          <p:cNvPr id="43" name="Text 41"/>
          <p:cNvSpPr/>
          <p:nvPr/>
        </p:nvSpPr>
        <p:spPr>
          <a:xfrm>
            <a:off x="5257800" y="367588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</a:rPr>
              <a:t>SQL Analytical View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257800" y="389534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FA3B1"/>
                </a:solidFill>
              </a:rPr>
              <a:t>Single clean reporting dataset for Power BI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754880" y="4297680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0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257800" y="429768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</a:rPr>
              <a:t>Power BI + DAX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257800" y="451713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FA3B1"/>
                </a:solidFill>
              </a:rPr>
              <a:t>Four-page interactive dashboard with KPI measures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645920" cy="2560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ANALYSIS  1 OF 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</a:rPr>
              <a:t>Sales &amp; Profitability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8FA3B1"/>
                </a:solidFill>
              </a:rPr>
              <a:t>Which products, categories, and stores are actually driving the business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8229600" cy="22860"/>
          </a:xfrm>
          <a:prstGeom prst="rect">
            <a:avLst/>
          </a:prstGeom>
          <a:solidFill>
            <a:srgbClr val="E4ECF2"/>
          </a:solidFill>
          <a:ln w="12700">
            <a:solidFill>
              <a:srgbClr val="E4EC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1920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17320"/>
            <a:ext cx="1920240" cy="502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53619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1B2A"/>
                </a:solidFill>
              </a:rPr>
              <a:t>N54M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8640" y="20116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</a:rPr>
              <a:t>Total Revenue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42032" y="1417320"/>
            <a:ext cx="1920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42032" y="1417320"/>
            <a:ext cx="1920240" cy="502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33472" y="153619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1B2A"/>
                </a:solidFill>
              </a:rPr>
              <a:t>N14M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633472" y="20116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</a:rPr>
              <a:t>Total Profit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26864" y="1417320"/>
            <a:ext cx="1920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417320"/>
            <a:ext cx="1920240" cy="5029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18304" y="153619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1B2A"/>
                </a:solidFill>
              </a:rPr>
              <a:t>26.6%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718304" y="20116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</a:rPr>
              <a:t>Profit Margin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711696" y="1417320"/>
            <a:ext cx="1920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11696" y="1417320"/>
            <a:ext cx="1920240" cy="5029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153619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1B2A"/>
                </a:solidFill>
              </a:rPr>
              <a:t>Bread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803136" y="20116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</a:rPr>
              <a:t>Top Product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</a:rPr>
              <a:t>(N1.48M Revenue)</a:t>
            </a:r>
            <a:endParaRPr lang="en-US" sz="900" dirty="0"/>
          </a:p>
        </p:txBody>
      </p:sp>
      <p:graphicFrame>
        <p:nvGraphicFramePr>
          <p:cNvPr id="23" name="Chart 0"/>
          <p:cNvGraphicFramePr/>
          <p:nvPr>
            <p:extLst>
              <p:ext uri="{D42A27DB-BD31-4B8C-83A1-F6EECF244321}">
                <p14:modId xmlns:p14="http://schemas.microsoft.com/office/powerpoint/2010/main" val="4157242454"/>
              </p:ext>
            </p:extLst>
          </p:nvPr>
        </p:nvGraphicFramePr>
        <p:xfrm>
          <a:off x="457200" y="2487168"/>
          <a:ext cx="512064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4" name="Shape 21"/>
          <p:cNvSpPr/>
          <p:nvPr/>
        </p:nvSpPr>
        <p:spPr>
          <a:xfrm>
            <a:off x="5760720" y="2487168"/>
            <a:ext cx="292608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760720" y="2487168"/>
            <a:ext cx="59436" cy="53949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18454" y="2528316"/>
            <a:ext cx="2670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1B2A"/>
                </a:solidFill>
              </a:rPr>
              <a:t>Beverages leads all categories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918454" y="2688752"/>
            <a:ext cx="2670048" cy="254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D3E50"/>
                </a:solidFill>
              </a:rPr>
              <a:t>N14.4M in revenue. Coca-Cola and Maltina are the main drivers within this category.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5760720" y="3090672"/>
            <a:ext cx="292608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5760720" y="3090672"/>
            <a:ext cx="59436" cy="53949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25312" y="3130989"/>
            <a:ext cx="2670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1B2A"/>
                </a:solidFill>
              </a:rPr>
              <a:t>Bread is the top single product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925312" y="3294126"/>
            <a:ext cx="292608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D3E50"/>
                </a:solidFill>
              </a:rPr>
              <a:t>N1.48M in revenue across all stores. A stockout on Bread hits the business harder than almost anything else.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760720" y="3694176"/>
            <a:ext cx="292608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5760720" y="3694176"/>
            <a:ext cx="59436" cy="53949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18454" y="3732623"/>
            <a:ext cx="2670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1B2A"/>
                </a:solidFill>
              </a:rPr>
              <a:t>All 5 stores perform closely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5918454" y="3919346"/>
            <a:ext cx="2670048" cy="309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D3E50"/>
                </a:solidFill>
              </a:rPr>
              <a:t>FoodCo Mokola leads at N11.25M but all stores are within a narrow range, showing consistent operations.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5760720" y="4297680"/>
            <a:ext cx="292608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5760720" y="4297680"/>
            <a:ext cx="59436" cy="53949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925312" y="4366260"/>
            <a:ext cx="2670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1B2A"/>
                </a:solidFill>
              </a:rPr>
              <a:t>Margins are stable across categories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5918454" y="4510900"/>
            <a:ext cx="2670048" cy="326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D3E50"/>
                </a:solidFill>
              </a:rPr>
              <a:t>Profit margins range from 26.5% to 26.8%. No single category is significantly more profitable than another.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645920" cy="256032"/>
          </a:xfrm>
          <a:prstGeom prst="rec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ANALYSIS  2 OF 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</a:rPr>
              <a:t>Inventory Health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8FA3B1"/>
                </a:solidFill>
              </a:rPr>
              <a:t>How much stock is actually available and how many days before shelves go empty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8229600" cy="22860"/>
          </a:xfrm>
          <a:prstGeom prst="rect">
            <a:avLst/>
          </a:prstGeom>
          <a:solidFill>
            <a:srgbClr val="E4ECF2"/>
          </a:solidFill>
          <a:ln w="12700">
            <a:solidFill>
              <a:srgbClr val="E4EC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1920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17320"/>
            <a:ext cx="1920240" cy="50292"/>
          </a:xfrm>
          <a:prstGeom prst="rec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53619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1B2A"/>
                </a:solidFill>
              </a:rPr>
              <a:t>458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8640" y="20116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</a:rPr>
              <a:t>Critical Stock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</a:rPr>
              <a:t>Products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42032" y="1417320"/>
            <a:ext cx="1920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42032" y="1417320"/>
            <a:ext cx="1920240" cy="50292"/>
          </a:xfrm>
          <a:prstGeom prst="rect">
            <a:avLst/>
          </a:prstGeom>
          <a:solidFill>
            <a:srgbClr val="E8963A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33472" y="153619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1B2A"/>
                </a:solidFill>
              </a:rPr>
              <a:t>384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633472" y="20116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</a:rPr>
              <a:t>Low Stock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</a:rPr>
              <a:t>Products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26864" y="1417320"/>
            <a:ext cx="1920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417320"/>
            <a:ext cx="1920240" cy="502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18304" y="153619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1B2A"/>
                </a:solidFill>
              </a:rPr>
              <a:t>37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718304" y="20116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</a:rPr>
              <a:t>Healthy Stock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</a:rPr>
              <a:t>Products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711696" y="1417320"/>
            <a:ext cx="1920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11696" y="1417320"/>
            <a:ext cx="1920240" cy="5029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153619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1B2A"/>
                </a:solidFill>
              </a:rPr>
              <a:t>1-4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803136" y="20116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</a:rPr>
              <a:t>Days of Coverage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</a:rPr>
              <a:t>(Fast Movers)</a:t>
            </a:r>
            <a:endParaRPr lang="en-US" sz="900" dirty="0"/>
          </a:p>
        </p:txBody>
      </p:sp>
      <p:graphicFrame>
        <p:nvGraphicFramePr>
          <p:cNvPr id="23" name="Chart 0"/>
          <p:cNvGraphicFramePr/>
          <p:nvPr/>
        </p:nvGraphicFramePr>
        <p:xfrm>
          <a:off x="457200" y="2487168"/>
          <a:ext cx="365760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4" name="Shape 21"/>
          <p:cNvSpPr/>
          <p:nvPr/>
        </p:nvSpPr>
        <p:spPr>
          <a:xfrm>
            <a:off x="4343400" y="2487168"/>
            <a:ext cx="434340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343400" y="2487168"/>
            <a:ext cx="59436" cy="539496"/>
          </a:xfrm>
          <a:prstGeom prst="rec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507992" y="2578608"/>
            <a:ext cx="4087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1B2A"/>
                </a:solidFill>
              </a:rPr>
              <a:t>95% of inventory is at risk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507992" y="2724912"/>
            <a:ext cx="408736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D3E50"/>
                </a:solidFill>
              </a:rPr>
              <a:t>Only 37 product records are actually healthy. The entire inventory is running on thin margins with almost no buffer.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343400" y="3090672"/>
            <a:ext cx="434340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343400" y="3090672"/>
            <a:ext cx="59436" cy="539496"/>
          </a:xfrm>
          <a:prstGeom prst="rec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507992" y="3182112"/>
            <a:ext cx="4087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1B2A"/>
                </a:solidFill>
              </a:rPr>
              <a:t>Fast movers have 1-4 days left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507992" y="3346704"/>
            <a:ext cx="4087368" cy="252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D3E50"/>
                </a:solidFill>
              </a:rPr>
              <a:t>Products like Bread and Coca-Cola have critically low coverage. One supplier delay and shelves go empty.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4343400" y="3694176"/>
            <a:ext cx="434340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4343400" y="3694176"/>
            <a:ext cx="59436" cy="539496"/>
          </a:xfrm>
          <a:prstGeom prst="rec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507992" y="3785616"/>
            <a:ext cx="4087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1B2A"/>
                </a:solidFill>
              </a:rPr>
              <a:t>Reorder points are not working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4507992" y="3945635"/>
            <a:ext cx="4087368" cy="309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D3E50"/>
                </a:solidFill>
              </a:rPr>
              <a:t>Products are repeatedly falling below reorder thresholds, especially those with stronger demand. The system needs a reset.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4343400" y="4297680"/>
            <a:ext cx="434340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4343400" y="4297680"/>
            <a:ext cx="59436" cy="539496"/>
          </a:xfrm>
          <a:prstGeom prst="rec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507992" y="4389120"/>
            <a:ext cx="4087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1B2A"/>
                </a:solidFill>
              </a:rPr>
              <a:t>Safety stock is too low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4471416" y="4538332"/>
            <a:ext cx="4087368" cy="359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D3E50"/>
                </a:solidFill>
              </a:rPr>
              <a:t>High-demand products need a meaningful inventory buffer to absorb supply disruptions before they cause a stockout.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0" y="4897858"/>
            <a:ext cx="9144000" cy="245642"/>
          </a:xfrm>
          <a:prstGeom prst="rec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65760" y="4897858"/>
            <a:ext cx="8412480" cy="245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Finding: The business is one supply disruption away from widespread empty shelves across all five stores.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645920" cy="256032"/>
          </a:xfrm>
          <a:prstGeom prst="rect">
            <a:avLst/>
          </a:prstGeom>
          <a:solidFill>
            <a:srgbClr val="E8963A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ANALYSIS  3 OF 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</a:rPr>
              <a:t>Stockout Risk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8FA3B1"/>
                </a:solidFill>
              </a:rPr>
              <a:t>Which products and stores go out of stock most, and what is causing it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8229600" cy="22860"/>
          </a:xfrm>
          <a:prstGeom prst="rect">
            <a:avLst/>
          </a:prstGeom>
          <a:solidFill>
            <a:srgbClr val="E4ECF2"/>
          </a:solidFill>
          <a:ln w="12700">
            <a:solidFill>
              <a:srgbClr val="E4EC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1920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17320"/>
            <a:ext cx="1920240" cy="50292"/>
          </a:xfrm>
          <a:prstGeom prst="rec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53619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1B2A"/>
                </a:solidFill>
              </a:rPr>
              <a:t>38.2%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8640" y="20116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</a:rPr>
              <a:t>Overall Stockout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</a:rPr>
              <a:t>Rate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42032" y="1417320"/>
            <a:ext cx="1920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42032" y="1417320"/>
            <a:ext cx="1920240" cy="50292"/>
          </a:xfrm>
          <a:prstGeom prst="rect">
            <a:avLst/>
          </a:prstGeom>
          <a:solidFill>
            <a:srgbClr val="E8963A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33472" y="153619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1B2A"/>
                </a:solidFill>
              </a:rPr>
              <a:t>40.8%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633472" y="20116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</a:rPr>
              <a:t>Worst Store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</a:rPr>
              <a:t>(FoodCo Jericho)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26864" y="1417320"/>
            <a:ext cx="1920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417320"/>
            <a:ext cx="1920240" cy="50292"/>
          </a:xfrm>
          <a:prstGeom prst="rec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18304" y="153619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1B2A"/>
                </a:solidFill>
              </a:rPr>
              <a:t>100%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718304" y="20116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</a:rPr>
              <a:t>Biscuits Stockout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</a:rPr>
              <a:t>Rate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711696" y="1417320"/>
            <a:ext cx="1920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11696" y="1417320"/>
            <a:ext cx="1920240" cy="502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153619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1B2A"/>
                </a:solidFill>
              </a:rPr>
              <a:t>35.4%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803136" y="20116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</a:rPr>
              <a:t>Best Store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</a:rPr>
              <a:t>(FoodCo Mokola)</a:t>
            </a:r>
            <a:endParaRPr lang="en-US" sz="900" dirty="0"/>
          </a:p>
        </p:txBody>
      </p:sp>
      <p:graphicFrame>
        <p:nvGraphicFramePr>
          <p:cNvPr id="23" name="Chart 0"/>
          <p:cNvGraphicFramePr/>
          <p:nvPr>
            <p:extLst>
              <p:ext uri="{D42A27DB-BD31-4B8C-83A1-F6EECF244321}">
                <p14:modId xmlns:p14="http://schemas.microsoft.com/office/powerpoint/2010/main" val="2044129462"/>
              </p:ext>
            </p:extLst>
          </p:nvPr>
        </p:nvGraphicFramePr>
        <p:xfrm>
          <a:off x="457200" y="2487168"/>
          <a:ext cx="512064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4" name="Shape 21"/>
          <p:cNvSpPr/>
          <p:nvPr/>
        </p:nvSpPr>
        <p:spPr>
          <a:xfrm>
            <a:off x="5760720" y="2487168"/>
            <a:ext cx="292608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760720" y="2487168"/>
            <a:ext cx="59436" cy="539496"/>
          </a:xfrm>
          <a:prstGeom prst="rect">
            <a:avLst/>
          </a:prstGeom>
          <a:solidFill>
            <a:srgbClr val="E8963A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18454" y="2487168"/>
            <a:ext cx="2670048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1B2A"/>
                </a:solidFill>
              </a:rPr>
              <a:t>Biscuits never in stock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929676" y="2608326"/>
            <a:ext cx="2757124" cy="418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D3E50"/>
                </a:solidFill>
              </a:rPr>
              <a:t>A 100% stockout rate means Biscuits was out of stock every single time it was checked. Bread and Butter were also frequent offenders.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5760720" y="3090672"/>
            <a:ext cx="292608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5760720" y="3090672"/>
            <a:ext cx="59436" cy="539496"/>
          </a:xfrm>
          <a:prstGeom prst="rect">
            <a:avLst/>
          </a:prstGeom>
          <a:solidFill>
            <a:srgbClr val="E8963A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18454" y="3090672"/>
            <a:ext cx="2670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1B2A"/>
                </a:solidFill>
              </a:rPr>
              <a:t>Stockouts happen in low demand too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931962" y="3210790"/>
            <a:ext cx="2670048" cy="42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D3E50"/>
                </a:solidFill>
              </a:rPr>
              <a:t>This is the most important finding. Shortages are not caused by demand spikes. They are caused by poor replenishment planning.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760720" y="3694176"/>
            <a:ext cx="292608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5760720" y="3694176"/>
            <a:ext cx="59436" cy="539496"/>
          </a:xfrm>
          <a:prstGeom prst="rect">
            <a:avLst/>
          </a:prstGeom>
          <a:solidFill>
            <a:srgbClr val="E8963A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25312" y="3685032"/>
            <a:ext cx="2670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1B2A"/>
                </a:solidFill>
              </a:rPr>
              <a:t>Jericho and Akobo need attention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5925312" y="3814294"/>
            <a:ext cx="2670048" cy="42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D3E50"/>
                </a:solidFill>
              </a:rPr>
              <a:t>Both stores exceed 40% stockout rates. This points to either ordering behaviour or supplier reliability issues at those locations.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5760720" y="4297680"/>
            <a:ext cx="292608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5760720" y="4297680"/>
            <a:ext cx="59436" cy="539496"/>
          </a:xfrm>
          <a:prstGeom prst="rect">
            <a:avLst/>
          </a:prstGeom>
          <a:solidFill>
            <a:srgbClr val="E8963A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925312" y="4312227"/>
            <a:ext cx="2670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1B2A"/>
                </a:solidFill>
              </a:rPr>
              <a:t>Bakery and Dairy most vulnerable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5925312" y="4439412"/>
            <a:ext cx="2670048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D3E50"/>
                </a:solidFill>
              </a:rPr>
              <a:t>These categories experience the highest stockout frequency and also happen to be among the top revenue drivers.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E8963A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65760" y="4928616"/>
            <a:ext cx="841248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Finding: Stockouts are a planning failure, not a demand problem. Products run out even when customers are not buying much.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645920" cy="25603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ANALYSIS  4 OF 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</a:rPr>
              <a:t>Expiry &amp; Inventory Waste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8FA3B1"/>
                </a:solidFill>
              </a:rPr>
              <a:t>Products expiring before they sell and the categories carrying the most risk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8229600" cy="22860"/>
          </a:xfrm>
          <a:prstGeom prst="rect">
            <a:avLst/>
          </a:prstGeom>
          <a:solidFill>
            <a:srgbClr val="E4ECF2"/>
          </a:solidFill>
          <a:ln w="12700">
            <a:solidFill>
              <a:srgbClr val="E4EC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1920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17320"/>
            <a:ext cx="1920240" cy="50292"/>
          </a:xfrm>
          <a:prstGeom prst="rec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53619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1B2A"/>
                </a:solidFill>
              </a:rPr>
              <a:t>154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8640" y="20116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</a:rPr>
              <a:t>Already Expired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</a:rPr>
              <a:t>Products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42032" y="1417320"/>
            <a:ext cx="1920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42032" y="1417320"/>
            <a:ext cx="1920240" cy="50292"/>
          </a:xfrm>
          <a:prstGeom prst="rect">
            <a:avLst/>
          </a:prstGeom>
          <a:solidFill>
            <a:srgbClr val="E8963A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33472" y="153619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1B2A"/>
                </a:solidFill>
              </a:rPr>
              <a:t>301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633472" y="20116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</a:rPr>
              <a:t>Expiring Within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</a:rPr>
              <a:t>30 Days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26864" y="1417320"/>
            <a:ext cx="1920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417320"/>
            <a:ext cx="1920240" cy="5029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18304" y="153619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1B2A"/>
                </a:solidFill>
              </a:rPr>
              <a:t>455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718304" y="20116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</a:rPr>
              <a:t>Total Products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</a:rPr>
              <a:t>at Expiry Risk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711696" y="1417320"/>
            <a:ext cx="1920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11696" y="1417320"/>
            <a:ext cx="1920240" cy="5029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153619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1B2A"/>
                </a:solidFill>
              </a:rPr>
              <a:t>Dairy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803136" y="20116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</a:rPr>
              <a:t>Highest Expiry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</a:rPr>
              <a:t>Risk Category</a:t>
            </a:r>
            <a:endParaRPr lang="en-US" sz="900" dirty="0"/>
          </a:p>
        </p:txBody>
      </p:sp>
      <p:graphicFrame>
        <p:nvGraphicFramePr>
          <p:cNvPr id="23" name="Chart 0"/>
          <p:cNvGraphicFramePr/>
          <p:nvPr>
            <p:extLst>
              <p:ext uri="{D42A27DB-BD31-4B8C-83A1-F6EECF244321}">
                <p14:modId xmlns:p14="http://schemas.microsoft.com/office/powerpoint/2010/main" val="2704382458"/>
              </p:ext>
            </p:extLst>
          </p:nvPr>
        </p:nvGraphicFramePr>
        <p:xfrm>
          <a:off x="457200" y="2487168"/>
          <a:ext cx="512064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4" name="Shape 21"/>
          <p:cNvSpPr/>
          <p:nvPr/>
        </p:nvSpPr>
        <p:spPr>
          <a:xfrm>
            <a:off x="5760720" y="2487168"/>
            <a:ext cx="292608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760720" y="2487168"/>
            <a:ext cx="59436" cy="53949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18454" y="2478024"/>
            <a:ext cx="2670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1B2A"/>
                </a:solidFill>
              </a:rPr>
              <a:t>Dairy and Frozen Foods at highest risk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918454" y="2610612"/>
            <a:ext cx="2670048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D3E50"/>
                </a:solidFill>
              </a:rPr>
              <a:t>Butter, Cheese, Yoghurt, Frozen Fish, and Ice Cream make up the bulk of expired and near-expiry inventory.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5760720" y="3090672"/>
            <a:ext cx="292608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5760720" y="3090672"/>
            <a:ext cx="59436" cy="53949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25312" y="3081528"/>
            <a:ext cx="2670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1B2A"/>
                </a:solidFill>
              </a:rPr>
              <a:t>Over-ordering is making it worse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925312" y="3201646"/>
            <a:ext cx="2670048" cy="446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D3E50"/>
                </a:solidFill>
              </a:rPr>
              <a:t>The same products expiring are also being over-ordered. Stock arrives faster than it can be sold, guaranteeing future losses.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760720" y="3694176"/>
            <a:ext cx="292608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5760720" y="3694176"/>
            <a:ext cx="59436" cy="53949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18454" y="3680460"/>
            <a:ext cx="2670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1B2A"/>
                </a:solidFill>
              </a:rPr>
              <a:t>Every expired unit is a direct loss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5918454" y="3813048"/>
            <a:ext cx="2670048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D3E50"/>
                </a:solidFill>
              </a:rPr>
              <a:t>There is no recovering that cost. Unlike a stockout which is a missed sale, expiry is money already spent and thrown away.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5760720" y="4297680"/>
            <a:ext cx="292608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5760720" y="4297680"/>
            <a:ext cx="59436" cy="53949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918454" y="4293108"/>
            <a:ext cx="2670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1B2A"/>
                </a:solidFill>
              </a:rPr>
              <a:t>Near-expiry stock needs promotions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5905154" y="4407408"/>
            <a:ext cx="26700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D3E50"/>
                </a:solidFill>
              </a:rPr>
              <a:t>Targeted discounts before the expiry date can turn a guaranteed loss into a partial recovery. This is a simple operational win.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65760" y="4882896"/>
            <a:ext cx="841248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Finding: The categories losing the most to expiry are the same ones being over-ordered. Better planning solves both problems at once.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64592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ANALYSIS  5 OF 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</a:rPr>
              <a:t>Supplier Performance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8FA3B1"/>
                </a:solidFill>
              </a:rPr>
              <a:t>Delivery reliability and damaged goods across all six suppliers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8229600" cy="22860"/>
          </a:xfrm>
          <a:prstGeom prst="rect">
            <a:avLst/>
          </a:prstGeom>
          <a:solidFill>
            <a:srgbClr val="E4ECF2"/>
          </a:solidFill>
          <a:ln w="12700">
            <a:solidFill>
              <a:srgbClr val="E4EC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1920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17320"/>
            <a:ext cx="1920240" cy="5029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53619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1B2A"/>
                </a:solidFill>
              </a:rPr>
              <a:t>6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8640" y="20116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</a:rPr>
              <a:t>Total Suppliers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42032" y="1417320"/>
            <a:ext cx="1920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42032" y="1417320"/>
            <a:ext cx="1920240" cy="502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33472" y="153619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1B2A"/>
                </a:solidFill>
              </a:rPr>
              <a:t>4.70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633472" y="20116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</a:rPr>
              <a:t>Avg Lead Time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</a:rPr>
              <a:t>(Days)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26864" y="1417320"/>
            <a:ext cx="1920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417320"/>
            <a:ext cx="1920240" cy="50292"/>
          </a:xfrm>
          <a:prstGeom prst="rec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18304" y="153619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1B2A"/>
                </a:solidFill>
              </a:rPr>
              <a:t>3.99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718304" y="20116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</a:rPr>
              <a:t>Avg Damaged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</a:rPr>
              <a:t>Units Per Order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711696" y="1417320"/>
            <a:ext cx="1920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11696" y="1417320"/>
            <a:ext cx="1920240" cy="50292"/>
          </a:xfrm>
          <a:prstGeom prst="rect">
            <a:avLst/>
          </a:prstGeom>
          <a:solidFill>
            <a:srgbClr val="E8963A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153619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1B2A"/>
                </a:solidFill>
              </a:rPr>
              <a:t>7 Days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803136" y="20116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</a:rPr>
              <a:t>Longest Lead Time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</a:rPr>
              <a:t>CoolFresh Logistics</a:t>
            </a:r>
            <a:endParaRPr lang="en-US" sz="900" dirty="0"/>
          </a:p>
        </p:txBody>
      </p:sp>
      <p:graphicFrame>
        <p:nvGraphicFramePr>
          <p:cNvPr id="23" name="Chart 0"/>
          <p:cNvGraphicFramePr/>
          <p:nvPr>
            <p:extLst>
              <p:ext uri="{D42A27DB-BD31-4B8C-83A1-F6EECF244321}">
                <p14:modId xmlns:p14="http://schemas.microsoft.com/office/powerpoint/2010/main" val="720099384"/>
              </p:ext>
            </p:extLst>
          </p:nvPr>
        </p:nvGraphicFramePr>
        <p:xfrm>
          <a:off x="457200" y="2487168"/>
          <a:ext cx="420624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4" name="Chart 1"/>
          <p:cNvGraphicFramePr/>
          <p:nvPr/>
        </p:nvGraphicFramePr>
        <p:xfrm>
          <a:off x="4846320" y="2487168"/>
          <a:ext cx="384048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5" name="Shape 21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65760" y="4764024"/>
            <a:ext cx="841248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Finding: Delivery timing is acceptable. The real risk is damage rates, especially for frozen and fragile products from FreshBake and CoolFresh.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645920" cy="25603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ANALYSIS  6 OF 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</a:rPr>
              <a:t>Replenishment Efficiency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8FA3B1"/>
                </a:solidFill>
              </a:rPr>
              <a:t>Are products being restocked in the right quantities relative to what is actually being sold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8229600" cy="22860"/>
          </a:xfrm>
          <a:prstGeom prst="rect">
            <a:avLst/>
          </a:prstGeom>
          <a:solidFill>
            <a:srgbClr val="E4ECF2"/>
          </a:solidFill>
          <a:ln w="12700">
            <a:solidFill>
              <a:srgbClr val="E4EC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1920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17320"/>
            <a:ext cx="1920240" cy="50292"/>
          </a:xfrm>
          <a:prstGeom prst="rec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53619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1B2A"/>
                </a:solidFill>
              </a:rPr>
              <a:t>555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8640" y="20116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</a:rPr>
              <a:t>Overstocked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</a:rPr>
              <a:t>Products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42032" y="1417320"/>
            <a:ext cx="1920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42032" y="1417320"/>
            <a:ext cx="1920240" cy="50292"/>
          </a:xfrm>
          <a:prstGeom prst="rect">
            <a:avLst/>
          </a:prstGeom>
          <a:solidFill>
            <a:srgbClr val="E8963A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33472" y="153619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1B2A"/>
                </a:solidFill>
              </a:rPr>
              <a:t>2.08x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633472" y="20116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</a:rPr>
              <a:t>Avg Restock-to-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</a:rPr>
              <a:t>Sales Ratio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26864" y="1417320"/>
            <a:ext cx="1920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417320"/>
            <a:ext cx="1920240" cy="50292"/>
          </a:xfrm>
          <a:prstGeom prst="rec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18304" y="153619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1B2A"/>
                </a:solidFill>
              </a:rPr>
              <a:t>5.5x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718304" y="20116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</a:rPr>
              <a:t>Worst Offender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</a:rPr>
              <a:t>Butter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711696" y="1417320"/>
            <a:ext cx="1920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11696" y="1417320"/>
            <a:ext cx="1920240" cy="5029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153619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1B2A"/>
                </a:solidFill>
              </a:rPr>
              <a:t>Dairy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803136" y="20116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</a:rPr>
              <a:t>Most Overstocked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</a:rPr>
              <a:t>Category</a:t>
            </a:r>
            <a:endParaRPr lang="en-US" sz="900" dirty="0"/>
          </a:p>
        </p:txBody>
      </p:sp>
      <p:graphicFrame>
        <p:nvGraphicFramePr>
          <p:cNvPr id="23" name="Chart 0"/>
          <p:cNvGraphicFramePr/>
          <p:nvPr>
            <p:extLst>
              <p:ext uri="{D42A27DB-BD31-4B8C-83A1-F6EECF244321}">
                <p14:modId xmlns:p14="http://schemas.microsoft.com/office/powerpoint/2010/main" val="2116312712"/>
              </p:ext>
            </p:extLst>
          </p:nvPr>
        </p:nvGraphicFramePr>
        <p:xfrm>
          <a:off x="457200" y="2487168"/>
          <a:ext cx="512064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4" name="Shape 21"/>
          <p:cNvSpPr/>
          <p:nvPr/>
        </p:nvSpPr>
        <p:spPr>
          <a:xfrm>
            <a:off x="5760720" y="2487168"/>
            <a:ext cx="292608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760720" y="2487168"/>
            <a:ext cx="59436" cy="539496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25312" y="2496312"/>
            <a:ext cx="2670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1B2A"/>
                </a:solidFill>
              </a:rPr>
              <a:t>Butter restocked 5.5x its sales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925312" y="2671086"/>
            <a:ext cx="2706624" cy="35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D3E50"/>
                </a:solidFill>
              </a:rPr>
              <a:t>For every unit sold, 5.5 are ordered. Stock piles up faster than it moves, directly feeding into expiry losses.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5760720" y="3090672"/>
            <a:ext cx="292608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5760720" y="3090672"/>
            <a:ext cx="59436" cy="539496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25312" y="3075709"/>
            <a:ext cx="2670048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1B2A"/>
                </a:solidFill>
              </a:rPr>
              <a:t>Frozen Foods worst overall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918454" y="3222429"/>
            <a:ext cx="271348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D3E50"/>
                </a:solidFill>
              </a:rPr>
              <a:t>Frozen Foods category average is 80.99 units restocked vs only 30.28 units sold. Nearly 3x over-ordered across the board.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760720" y="3694176"/>
            <a:ext cx="292608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5760720" y="3694176"/>
            <a:ext cx="59436" cy="539496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25312" y="3721608"/>
            <a:ext cx="2670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1B2A"/>
                </a:solidFill>
              </a:rPr>
              <a:t>Over-ordering is a cash problem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5925312" y="3845052"/>
            <a:ext cx="2852928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D3E50"/>
                </a:solidFill>
              </a:rPr>
              <a:t>Money tied up in excess stock cannot be used elsewhere. It also inflates storage costs and increases expiry exposure.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5760720" y="4297680"/>
            <a:ext cx="292608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5760720" y="4297680"/>
            <a:ext cx="59436" cy="539496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925312" y="4306824"/>
            <a:ext cx="2670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1B2A"/>
                </a:solidFill>
              </a:rPr>
              <a:t>Replenishment needs sales anchoring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5925312" y="4430268"/>
            <a:ext cx="2793492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D3E50"/>
                </a:solidFill>
              </a:rPr>
              <a:t>Order quantities must be based on actual recent sales data, reviewed on a rolling 30-day basis, not fixed estimates.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65760" y="4896612"/>
            <a:ext cx="8412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Finding: Products are being ordered at up to 5x their actual sales rate. The business is spending money on stock it cannot sell.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645920" cy="256032"/>
          </a:xfrm>
          <a:prstGeom prst="rect">
            <a:avLst/>
          </a:prstGeom>
          <a:solidFill>
            <a:srgbClr val="8FA3B1"/>
          </a:solidFill>
          <a:ln w="12700">
            <a:solidFill>
              <a:srgbClr val="8FA3B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ANALYSIS  7 OF 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</a:rPr>
              <a:t>Promotion Effectiveness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8FA3B1"/>
                </a:solidFill>
              </a:rPr>
              <a:t>Are promotions actually moving more products or just running in the background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8229600" cy="22860"/>
          </a:xfrm>
          <a:prstGeom prst="rect">
            <a:avLst/>
          </a:prstGeom>
          <a:solidFill>
            <a:srgbClr val="E4ECF2"/>
          </a:solidFill>
          <a:ln w="12700">
            <a:solidFill>
              <a:srgbClr val="E4EC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1920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17320"/>
            <a:ext cx="1920240" cy="50292"/>
          </a:xfrm>
          <a:prstGeom prst="rec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53619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1B2A"/>
                </a:solidFill>
              </a:rPr>
              <a:t>-6.70%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8640" y="20116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</a:rPr>
              <a:t>Overall Promo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</a:rPr>
              <a:t>Impact on Revenue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42032" y="1417320"/>
            <a:ext cx="1920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42032" y="1417320"/>
            <a:ext cx="1920240" cy="50292"/>
          </a:xfrm>
          <a:prstGeom prst="rect">
            <a:avLst/>
          </a:prstGeom>
          <a:solidFill>
            <a:srgbClr val="E8963A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33472" y="153619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1B2A"/>
                </a:solidFill>
              </a:rPr>
              <a:t>-8.7%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633472" y="20116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</a:rPr>
              <a:t>Promo Impact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</a:rPr>
              <a:t>vs Prior Month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26864" y="1417320"/>
            <a:ext cx="1920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417320"/>
            <a:ext cx="1920240" cy="502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18304" y="153619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1B2A"/>
                </a:solidFill>
              </a:rPr>
              <a:t>Dairy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718304" y="20116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</a:rPr>
              <a:t>Best Responding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</a:rPr>
              <a:t>Category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711696" y="1417320"/>
            <a:ext cx="1920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11696" y="1417320"/>
            <a:ext cx="1920240" cy="50292"/>
          </a:xfrm>
          <a:prstGeom prst="rect">
            <a:avLst/>
          </a:prstGeom>
          <a:solidFill>
            <a:srgbClr val="8FA3B1"/>
          </a:solidFill>
          <a:ln w="12700">
            <a:solidFill>
              <a:srgbClr val="8FA3B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153619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1B2A"/>
                </a:solidFill>
              </a:rPr>
              <a:t>Household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803136" y="20116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</a:rPr>
              <a:t>Weakest Responding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</a:rPr>
              <a:t>Category</a:t>
            </a:r>
            <a:endParaRPr lang="en-US" sz="900" dirty="0"/>
          </a:p>
        </p:txBody>
      </p:sp>
      <p:graphicFrame>
        <p:nvGraphicFramePr>
          <p:cNvPr id="23" name="Chart 0"/>
          <p:cNvGraphicFramePr/>
          <p:nvPr>
            <p:extLst>
              <p:ext uri="{D42A27DB-BD31-4B8C-83A1-F6EECF244321}">
                <p14:modId xmlns:p14="http://schemas.microsoft.com/office/powerpoint/2010/main" val="592391130"/>
              </p:ext>
            </p:extLst>
          </p:nvPr>
        </p:nvGraphicFramePr>
        <p:xfrm>
          <a:off x="457200" y="2487168"/>
          <a:ext cx="512064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4" name="Shape 21"/>
          <p:cNvSpPr/>
          <p:nvPr/>
        </p:nvSpPr>
        <p:spPr>
          <a:xfrm>
            <a:off x="5760720" y="2487168"/>
            <a:ext cx="292608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760720" y="2487168"/>
            <a:ext cx="59436" cy="539496"/>
          </a:xfrm>
          <a:prstGeom prst="rect">
            <a:avLst/>
          </a:prstGeom>
          <a:solidFill>
            <a:srgbClr val="8FA3B1"/>
          </a:solidFill>
          <a:ln w="12700">
            <a:solidFill>
              <a:srgbClr val="8FA3B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25312" y="2464308"/>
            <a:ext cx="2670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1B2A"/>
                </a:solidFill>
              </a:rPr>
              <a:t>Promotions are not working well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925312" y="2619756"/>
            <a:ext cx="27614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D3E50"/>
                </a:solidFill>
              </a:rPr>
              <a:t>The revenue gap between promotional and non-promotional periods is small across nearly every category. The spend is not justified by the return.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5760720" y="3090672"/>
            <a:ext cx="292608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5760720" y="3090672"/>
            <a:ext cx="59436" cy="539496"/>
          </a:xfrm>
          <a:prstGeom prst="rect">
            <a:avLst/>
          </a:prstGeom>
          <a:solidFill>
            <a:srgbClr val="8FA3B1"/>
          </a:solidFill>
          <a:ln w="12700">
            <a:solidFill>
              <a:srgbClr val="8FA3B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25312" y="3108960"/>
            <a:ext cx="2670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1B2A"/>
                </a:solidFill>
              </a:rPr>
              <a:t>Dairy responds slightly better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918454" y="3223260"/>
            <a:ext cx="2768346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D3E50"/>
                </a:solidFill>
              </a:rPr>
              <a:t>Of all categories, Dairy shows the most meaningful difference between promo and no-promo revenue. This is where promotion effort should focus.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760720" y="3694176"/>
            <a:ext cx="292608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5760720" y="3694176"/>
            <a:ext cx="59436" cy="539496"/>
          </a:xfrm>
          <a:prstGeom prst="rect">
            <a:avLst/>
          </a:prstGeom>
          <a:solidFill>
            <a:srgbClr val="8FA3B1"/>
          </a:solidFill>
          <a:ln w="12700">
            <a:solidFill>
              <a:srgbClr val="8FA3B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18454" y="3694176"/>
            <a:ext cx="2670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1B2A"/>
                </a:solidFill>
              </a:rPr>
              <a:t>Stockouts happen during promos too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5907232" y="3845882"/>
            <a:ext cx="2670048" cy="360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D3E50"/>
                </a:solidFill>
              </a:rPr>
              <a:t>Running promotions on products that are out of stock is a waste. Inventory planning must be coordinated with any promotional activity.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5760720" y="4297680"/>
            <a:ext cx="292608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5760720" y="4297680"/>
            <a:ext cx="59436" cy="539496"/>
          </a:xfrm>
          <a:prstGeom prst="rect">
            <a:avLst/>
          </a:prstGeom>
          <a:solidFill>
            <a:srgbClr val="8FA3B1"/>
          </a:solidFill>
          <a:ln w="12700">
            <a:solidFill>
              <a:srgbClr val="8FA3B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925312" y="4295186"/>
            <a:ext cx="2670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1B2A"/>
                </a:solidFill>
              </a:rPr>
              <a:t>Strategy needs to change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5918454" y="4407822"/>
            <a:ext cx="2670048" cy="429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D3E50"/>
                </a:solidFill>
              </a:rPr>
              <a:t>Broad promotions running across all categories should be replaced with targeted, time-limited campaigns in categories that actually respond.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2D3E50"/>
          </a:solidFill>
          <a:ln w="12700">
            <a:solidFill>
              <a:srgbClr val="2D3E5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65760" y="4901184"/>
            <a:ext cx="841248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Finding: Current promotions generate very little additional revenue. A more targeted approach focused on responsive categories is needed.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645920" cy="25603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DASHBOARD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</a:rPr>
              <a:t>Power BI Dashboard Overview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8FA3B1"/>
                </a:solidFill>
              </a:rPr>
              <a:t>Four pages, each answering one clear business question a manager would ask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8229600" cy="22860"/>
          </a:xfrm>
          <a:prstGeom prst="rect">
            <a:avLst/>
          </a:prstGeom>
          <a:solidFill>
            <a:srgbClr val="E4ECF2"/>
          </a:solidFill>
          <a:ln w="12700">
            <a:solidFill>
              <a:srgbClr val="E4EC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35608"/>
            <a:ext cx="40690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35608"/>
            <a:ext cx="59436" cy="1554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1581912"/>
            <a:ext cx="365760" cy="3657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581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" y="159105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</a:rPr>
              <a:t>Executive Overview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" y="2029968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028090"/>
                </a:solidFill>
              </a:rPr>
              <a:t>How is the business performing right now?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21792" y="228600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E50"/>
                </a:solidFill>
              </a:rPr>
              <a:t>Revenue, profit, store comparison, and category contribution. Built for leadership to get a quick health check before diving into specifics.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00600" y="1435608"/>
            <a:ext cx="40690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00600" y="1435608"/>
            <a:ext cx="59436" cy="1554480"/>
          </a:xfrm>
          <a:prstGeom prst="rec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65192" y="1581912"/>
            <a:ext cx="365760" cy="365760"/>
          </a:xfrm>
          <a:prstGeom prst="ellipse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65192" y="1581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40680" y="159105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</a:rPr>
              <a:t>Inventory Health &amp; Risk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65192" y="2029968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D62839"/>
                </a:solidFill>
              </a:rPr>
              <a:t>Where are the gaps and what needs action today?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965192" y="228600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E50"/>
                </a:solidFill>
              </a:rPr>
              <a:t>Critical stock flags, expiry risk by category, stockout rates by store, and a live restock action table showing OK, LOW STOCK, or REORDER.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154680"/>
            <a:ext cx="40690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154680"/>
            <a:ext cx="59436" cy="1554480"/>
          </a:xfrm>
          <a:prstGeom prst="rect">
            <a:avLst/>
          </a:prstGeom>
          <a:solidFill>
            <a:srgbClr val="E8963A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" y="3300984"/>
            <a:ext cx="365760" cy="365760"/>
          </a:xfrm>
          <a:prstGeom prst="ellipse">
            <a:avLst/>
          </a:prstGeom>
          <a:solidFill>
            <a:srgbClr val="E8963A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33009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97280" y="331012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</a:rPr>
              <a:t>Supplier &amp; Replenishment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1792" y="3749040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E8963A"/>
                </a:solidFill>
              </a:rPr>
              <a:t>Are suppliers reliable and are we ordering the right amounts?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21792" y="4005072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E50"/>
                </a:solidFill>
              </a:rPr>
              <a:t>Lead time comparison, damage rates per supplier, over-ordering patterns by product, and restocking efficiency across all six categories.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00600" y="3154680"/>
            <a:ext cx="40690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00600" y="3154680"/>
            <a:ext cx="59436" cy="15544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65192" y="3300984"/>
            <a:ext cx="365760" cy="36576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65192" y="33009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40680" y="331012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</a:rPr>
              <a:t>Profitability &amp; Promotions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65192" y="3749040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00A896"/>
                </a:solidFill>
              </a:rPr>
              <a:t>What is actually driving our margins?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965192" y="4005072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E50"/>
                </a:solidFill>
              </a:rPr>
              <a:t>Profit margins by category, top revenue products, monthly profit trends across 12 months, and promotional impact compared to non-promotional periods.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791456"/>
            <a:ext cx="9144000" cy="352044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855464"/>
            <a:ext cx="84124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Design Principle: Every page answers one question. If a visual did not help someone make a decision, it was removed.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645920" cy="2560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OUTCOMES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</a:rPr>
              <a:t>Key Business Outcomes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8FA3B1"/>
                </a:solidFill>
              </a:rPr>
              <a:t>Six clear findings a supply chain team can act on immediately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8229600" cy="22860"/>
          </a:xfrm>
          <a:prstGeom prst="rect">
            <a:avLst/>
          </a:prstGeom>
          <a:solidFill>
            <a:srgbClr val="E4ECF2"/>
          </a:solidFill>
          <a:ln w="12700">
            <a:solidFill>
              <a:srgbClr val="E4EC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35608"/>
            <a:ext cx="263347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35608"/>
            <a:ext cx="2633472" cy="59436"/>
          </a:xfrm>
          <a:prstGeom prst="rec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563624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1B2A"/>
                </a:solidFill>
              </a:rPr>
              <a:t>Inventory is dangerously thin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1892808"/>
            <a:ext cx="2359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D3E50"/>
                </a:solidFill>
              </a:rPr>
              <a:t>95% of products are at critical or low stock. A single supply delay could cause widespread shortages across all five stores at the same time.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73552" y="1435608"/>
            <a:ext cx="263347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73552" y="1435608"/>
            <a:ext cx="2633472" cy="59436"/>
          </a:xfrm>
          <a:prstGeom prst="rect">
            <a:avLst/>
          </a:prstGeom>
          <a:solidFill>
            <a:srgbClr val="E8963A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10712" y="1563624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1B2A"/>
                </a:solidFill>
              </a:rPr>
              <a:t>Stockouts are a planning failure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10712" y="1892808"/>
            <a:ext cx="2359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D3E50"/>
                </a:solidFill>
              </a:rPr>
              <a:t>38.2% stockout rate during low-demand periods proves this is not a customer behaviour problem. It is a replenishment strategy problem with a clear solution.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89904" y="1435608"/>
            <a:ext cx="263347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9904" y="1435608"/>
            <a:ext cx="2633472" cy="5943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27064" y="1563624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1B2A"/>
                </a:solidFill>
              </a:rPr>
              <a:t>Perishables are a double loss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27064" y="1892808"/>
            <a:ext cx="2359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D3E50"/>
                </a:solidFill>
              </a:rPr>
              <a:t>Dairy and Frozen Foods are simultaneously being over-ordered and expiring. The business is paying for stock it is then throwing away.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008376"/>
            <a:ext cx="263347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008376"/>
            <a:ext cx="2633472" cy="594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136392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1B2A"/>
                </a:solidFill>
              </a:rPr>
              <a:t>Supplier damage needs tracking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" y="3465576"/>
            <a:ext cx="2359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D3E50"/>
                </a:solidFill>
              </a:rPr>
              <a:t>FreshBake and CoolFresh have the highest damage rates. Without consistent data, there is no leverage to demand better handling from suppliers.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73552" y="3008376"/>
            <a:ext cx="263347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73552" y="3008376"/>
            <a:ext cx="2633472" cy="59436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10712" y="3136392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1B2A"/>
                </a:solidFill>
              </a:rPr>
              <a:t>Few products carry most revenue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10712" y="3465576"/>
            <a:ext cx="2359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D3E50"/>
                </a:solidFill>
              </a:rPr>
              <a:t>Bread, Coca-Cola, Meat Pie, and Maltina carry a disproportionate share of total revenue. A stockout on any of these hits the business harder than anything else.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089904" y="3008376"/>
            <a:ext cx="263347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89904" y="3008376"/>
            <a:ext cx="2633472" cy="59436"/>
          </a:xfrm>
          <a:prstGeom prst="rect">
            <a:avLst/>
          </a:prstGeom>
          <a:solidFill>
            <a:srgbClr val="8FA3B1"/>
          </a:solidFill>
          <a:ln w="12700">
            <a:solidFill>
              <a:srgbClr val="8FA3B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27064" y="3136392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1B2A"/>
                </a:solidFill>
              </a:rPr>
              <a:t>Promotions need rethinking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27064" y="3465576"/>
            <a:ext cx="2359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D3E50"/>
                </a:solidFill>
              </a:rPr>
              <a:t>Current promotional activity is broad and generates very little return. Focusing on categories that actually respond would produce better results with less spend.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64592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RECOMMENDATIONS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</a:rPr>
              <a:t>Recommendations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8FA3B1"/>
                </a:solidFill>
              </a:rPr>
              <a:t>Six practical actions with clear priority levels the business can start implementing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8229600" cy="22860"/>
          </a:xfrm>
          <a:prstGeom prst="rect">
            <a:avLst/>
          </a:prstGeom>
          <a:solidFill>
            <a:srgbClr val="E4ECF2"/>
          </a:solidFill>
          <a:ln w="12700">
            <a:solidFill>
              <a:srgbClr val="E4EC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35608"/>
            <a:ext cx="40690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35608"/>
            <a:ext cx="59436" cy="1024128"/>
          </a:xfrm>
          <a:prstGeom prst="rec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30752" y="1545336"/>
            <a:ext cx="685800" cy="228600"/>
          </a:xfrm>
          <a:prstGeom prst="rect">
            <a:avLst/>
          </a:prstGeom>
          <a:solidFill>
            <a:srgbClr val="D62839">
              <a:alpha val="20000"/>
            </a:srgbClr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30752" y="154533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62839"/>
                </a:solidFill>
              </a:rPr>
              <a:t>HIGH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21792" y="1527048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</a:rPr>
              <a:t>01  Reset All Reorder Points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" y="1819656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D3E50"/>
                </a:solidFill>
              </a:rPr>
              <a:t>Review and rebuild reorder thresholds for every product based on actual 30-day rolling sales velocity. Stop relying on fixed estimates.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00600" y="1435608"/>
            <a:ext cx="40690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1435608"/>
            <a:ext cx="59436" cy="1024128"/>
          </a:xfrm>
          <a:prstGeom prst="rec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74152" y="1545336"/>
            <a:ext cx="685800" cy="228600"/>
          </a:xfrm>
          <a:prstGeom prst="rect">
            <a:avLst/>
          </a:prstGeom>
          <a:solidFill>
            <a:srgbClr val="D62839">
              <a:alpha val="20000"/>
            </a:srgbClr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74152" y="154533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62839"/>
                </a:solidFill>
              </a:rPr>
              <a:t>HIGH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965192" y="1527048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</a:rPr>
              <a:t>02  Protect Top Revenue Products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65192" y="1819656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D3E50"/>
                </a:solidFill>
              </a:rPr>
              <a:t>Bread, Coca-Cola, Meat Pie, and Maltina must have dedicated safety stock buffers. These cannot go out of stock under any circumstances.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2624328"/>
            <a:ext cx="40690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624328"/>
            <a:ext cx="59436" cy="1024128"/>
          </a:xfrm>
          <a:prstGeom prst="rec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30752" y="2734056"/>
            <a:ext cx="685800" cy="228600"/>
          </a:xfrm>
          <a:prstGeom prst="rect">
            <a:avLst/>
          </a:prstGeom>
          <a:solidFill>
            <a:srgbClr val="D62839">
              <a:alpha val="20000"/>
            </a:srgbClr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30752" y="273405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62839"/>
                </a:solidFill>
              </a:rPr>
              <a:t>HIGH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21792" y="2715768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</a:rPr>
              <a:t>03  Cut Perishable Order Quantities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" y="3008376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D3E50"/>
                </a:solidFill>
              </a:rPr>
              <a:t>Reduce replenishment quantities for Dairy and Frozen Foods immediately. Use recent sales data to recalibrate order sizes across both categories.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00600" y="2624328"/>
            <a:ext cx="40690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2624328"/>
            <a:ext cx="59436" cy="1024128"/>
          </a:xfrm>
          <a:prstGeom prst="rect">
            <a:avLst/>
          </a:prstGeom>
          <a:solidFill>
            <a:srgbClr val="E8963A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74152" y="2734056"/>
            <a:ext cx="685800" cy="228600"/>
          </a:xfrm>
          <a:prstGeom prst="rect">
            <a:avLst/>
          </a:prstGeom>
          <a:solidFill>
            <a:srgbClr val="E8963A">
              <a:alpha val="20000"/>
            </a:srgbClr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74152" y="273405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963A"/>
                </a:solidFill>
              </a:rPr>
              <a:t>MEDIUM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965192" y="2715768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</a:rPr>
              <a:t>04  Run Near-Expiry Promotions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65192" y="3008376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D3E50"/>
                </a:solidFill>
              </a:rPr>
              <a:t>Before products cross their expiry date, use targeted discounts or bundle deals to clear them. A partial recovery is always better than a full write-off.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3813048"/>
            <a:ext cx="40690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" y="3813048"/>
            <a:ext cx="59436" cy="1024128"/>
          </a:xfrm>
          <a:prstGeom prst="rect">
            <a:avLst/>
          </a:prstGeom>
          <a:solidFill>
            <a:srgbClr val="E8963A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730752" y="3922776"/>
            <a:ext cx="685800" cy="228600"/>
          </a:xfrm>
          <a:prstGeom prst="rect">
            <a:avLst/>
          </a:prstGeom>
          <a:solidFill>
            <a:srgbClr val="E8963A">
              <a:alpha val="20000"/>
            </a:srgbClr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30752" y="392277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963A"/>
                </a:solidFill>
              </a:rPr>
              <a:t>MEDIUM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21792" y="3904488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</a:rPr>
              <a:t>05  Introduce Supplier Damage Tracking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1792" y="4197096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D3E50"/>
                </a:solidFill>
              </a:rPr>
              <a:t>Log damaged arrivals consistently for every supplier and product. Use this data in quarterly reviews to hold suppliers to a measurable standard.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00600" y="3813048"/>
            <a:ext cx="40690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800600" y="3813048"/>
            <a:ext cx="59436" cy="10241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074152" y="3922776"/>
            <a:ext cx="685800" cy="228600"/>
          </a:xfrm>
          <a:prstGeom prst="rect">
            <a:avLst/>
          </a:prstGeom>
          <a:solidFill>
            <a:srgbClr val="00A896">
              <a:alpha val="2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74152" y="392277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A896"/>
                </a:solidFill>
              </a:rPr>
              <a:t>LOW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965192" y="3904488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</a:rPr>
              <a:t>06  Redesign the Promotions Strategy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965192" y="4197096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D3E50"/>
                </a:solidFill>
              </a:rPr>
              <a:t>Stop running broad promotions across all categories. Focus on Dairy and Beverages which show the best response. Test shorter, targeted campaigns.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645920" cy="25603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REFLECTION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</a:rPr>
              <a:t>What I Learned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8FA3B1"/>
                </a:solidFill>
              </a:rPr>
              <a:t>Four honest reflections from building this project end to end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8229600" cy="22860"/>
          </a:xfrm>
          <a:prstGeom prst="rect">
            <a:avLst/>
          </a:prstGeom>
          <a:solidFill>
            <a:srgbClr val="E4ECF2"/>
          </a:solidFill>
          <a:ln w="12700">
            <a:solidFill>
              <a:srgbClr val="E4EC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35608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35608"/>
            <a:ext cx="59436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1600200"/>
            <a:ext cx="365760" cy="3657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5568" y="1527048"/>
            <a:ext cx="7406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</a:rPr>
              <a:t>Data does not speak for itself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15568" y="1801368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E50"/>
                </a:solidFill>
              </a:rPr>
              <a:t>Having numbers is not the same as having answers. I had to understand the business first before I could write a single useful query. The best analysis always starts with the right question.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28600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286000"/>
            <a:ext cx="59436" cy="7132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" y="2450592"/>
            <a:ext cx="365760" cy="36576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2450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15568" y="2377440"/>
            <a:ext cx="7406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</a:rPr>
              <a:t>Surface causes can be completely wrong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15568" y="2651760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E50"/>
                </a:solidFill>
              </a:rPr>
              <a:t>The stockout problem looked like a demand issue. When I looked deeper, it was a replenishment planning failure. If I had stopped at the surface, the recommendation would have been wrong.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136392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136392"/>
            <a:ext cx="59436" cy="713232"/>
          </a:xfrm>
          <a:prstGeom prst="rect">
            <a:avLst/>
          </a:prstGeom>
          <a:solidFill>
            <a:srgbClr val="E8963A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" y="3300984"/>
            <a:ext cx="365760" cy="365760"/>
          </a:xfrm>
          <a:prstGeom prst="ellipse">
            <a:avLst/>
          </a:prstGeom>
          <a:solidFill>
            <a:srgbClr val="E8963A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33009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15568" y="3227832"/>
            <a:ext cx="7406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</a:rPr>
              <a:t>Making data realistic is harder than it looks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15568" y="3502152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E50"/>
                </a:solidFill>
              </a:rPr>
              <a:t>Getting a simulated dataset to behave like a real business took multiple rounds of adjustment. Uniform patterns and disconnected numbers produce analysis that looks correct but means nothing.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986784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986784"/>
            <a:ext cx="59436" cy="71323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" y="4151376"/>
            <a:ext cx="365760" cy="365760"/>
          </a:xfrm>
          <a:prstGeom prst="ellipse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" y="4151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15568" y="4078224"/>
            <a:ext cx="7406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</a:rPr>
              <a:t>A dashboard is for decisions, not displays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15568" y="4352544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E50"/>
                </a:solidFill>
              </a:rPr>
              <a:t>I removed more charts than I kept. Every visual had to answer a question someone would actually walk in and ask. If it did not help someone make a decision, it had no place on the slide.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02920" y="11430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8FA3B1"/>
                </a:solidFill>
              </a:rPr>
              <a:t>This project was built to show that good analysis starts with the right questions, not just the right tools.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1965960" cy="822960"/>
          </a:xfrm>
          <a:prstGeom prst="rect">
            <a:avLst/>
          </a:prstGeom>
          <a:solidFill>
            <a:srgbClr val="1A2E4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96596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B4CC"/>
                </a:solidFill>
              </a:rPr>
              <a:t>7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2395728"/>
            <a:ext cx="1965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</a:rPr>
              <a:t>Business Analyses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51760" y="1965960"/>
            <a:ext cx="1965960" cy="822960"/>
          </a:xfrm>
          <a:prstGeom prst="rect">
            <a:avLst/>
          </a:prstGeom>
          <a:solidFill>
            <a:srgbClr val="1A2E4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196596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B4CC"/>
                </a:solidFill>
              </a:rPr>
              <a:t>4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651760" y="2395728"/>
            <a:ext cx="1965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</a:rPr>
              <a:t>Dashboard Pages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800600" y="1965960"/>
            <a:ext cx="1965960" cy="822960"/>
          </a:xfrm>
          <a:prstGeom prst="rect">
            <a:avLst/>
          </a:prstGeom>
          <a:solidFill>
            <a:srgbClr val="1A2E4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96596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B4CC"/>
                </a:solidFill>
              </a:rPr>
              <a:t>N54M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800600" y="2395728"/>
            <a:ext cx="1965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</a:rPr>
              <a:t>Revenue Analyzed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949440" y="1965960"/>
            <a:ext cx="1965960" cy="822960"/>
          </a:xfrm>
          <a:prstGeom prst="rect">
            <a:avLst/>
          </a:prstGeom>
          <a:solidFill>
            <a:srgbClr val="1A2E4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0" y="196596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B4CC"/>
                </a:solidFill>
              </a:rPr>
              <a:t>6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949440" y="2395728"/>
            <a:ext cx="1965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</a:rPr>
              <a:t>Suppliers Reviewed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" y="3035808"/>
            <a:ext cx="8229600" cy="228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218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</a:rPr>
              <a:t>Olajimi Adeleke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02920" y="36393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FA3B1"/>
                </a:solidFill>
              </a:rPr>
              <a:t>B.Sc. Statistics   </a:t>
            </a:r>
            <a:r>
              <a:rPr lang="en-US" sz="1050">
                <a:solidFill>
                  <a:srgbClr val="8FA3B1"/>
                </a:solidFill>
              </a:rPr>
              <a:t>|   Ibadan</a:t>
            </a:r>
            <a:r>
              <a:rPr lang="en-US" sz="1050" dirty="0">
                <a:solidFill>
                  <a:srgbClr val="8FA3B1"/>
                </a:solidFill>
              </a:rPr>
              <a:t>, Nigeria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39502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2B4CC"/>
                </a:solidFill>
              </a:rPr>
              <a:t>LinkedIn: </a:t>
            </a:r>
            <a:r>
              <a:rPr lang="en-US" sz="1000" i="1" dirty="0">
                <a:solidFill>
                  <a:srgbClr val="02B4CC"/>
                </a:solidFill>
                <a:hlinkClick r:id="rId3"/>
              </a:rPr>
              <a:t>Click Here</a:t>
            </a:r>
            <a:r>
              <a:rPr lang="en-US" sz="1000" dirty="0">
                <a:solidFill>
                  <a:srgbClr val="02B4CC"/>
                </a:solidFill>
              </a:rPr>
              <a:t>     Portfolio: </a:t>
            </a:r>
            <a:r>
              <a:rPr lang="en-US" sz="1000" i="1" dirty="0">
                <a:solidFill>
                  <a:srgbClr val="02B4CC"/>
                </a:solidFill>
                <a:hlinkClick r:id="rId4"/>
              </a:rPr>
              <a:t>click here</a:t>
            </a:r>
            <a:r>
              <a:rPr lang="en-US" sz="1000" dirty="0">
                <a:solidFill>
                  <a:srgbClr val="02B4CC"/>
                </a:solidFill>
              </a:rPr>
              <a:t>    Email: olajimiadeleke4@gmail.com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480560"/>
            <a:ext cx="841248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8FA3B1"/>
                </a:solidFill>
              </a:rPr>
              <a:t>Retail Inventory &amp; Supply Chain Analytics   |   PostgreSQL  ·  Power BI  ·  DAX  ·  Excel |  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2381</Words>
  <Application>Microsoft Office PowerPoint</Application>
  <PresentationFormat>On-screen Show (16:9)</PresentationFormat>
  <Paragraphs>337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Inventory and Supply Chain Analytics</dc:title>
  <dc:subject>PptxGenJS Presentation</dc:subject>
  <dc:creator>Olajimi Adeleke</dc:creator>
  <cp:lastModifiedBy>olajimi adeleke</cp:lastModifiedBy>
  <cp:revision>5</cp:revision>
  <dcterms:created xsi:type="dcterms:W3CDTF">2026-05-20T19:21:20Z</dcterms:created>
  <dcterms:modified xsi:type="dcterms:W3CDTF">2026-05-26T17:12:25Z</dcterms:modified>
</cp:coreProperties>
</file>